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charts/chart2.xml" ContentType="application/vnd.openxmlformats-officedocument.drawingml.chart+xml"/>
  <Override PartName="/ppt/notesSlides/notesSlide9.xml" ContentType="application/vnd.openxmlformats-officedocument.presentationml.notesSlide+xml"/>
  <Override PartName="/ppt/charts/chart3.xml" ContentType="application/vnd.openxmlformats-officedocument.drawingml.chart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rts/chart4.xml" ContentType="application/vnd.openxmlformats-officedocument.drawingml.chart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5" d="100"/>
          <a:sy n="65" d="100"/>
        </p:scale>
        <p:origin x="70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Source Share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B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A4B-42E8-ABB2-97D5AE8332B2}"/>
              </c:ext>
            </c:extLst>
          </c:dPt>
          <c:dPt>
            <c:idx val="1"/>
            <c:bubble3D val="0"/>
            <c:spPr>
              <a:solidFill>
                <a:srgbClr val="4F86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A4B-42E8-ABB2-97D5AE8332B2}"/>
              </c:ext>
            </c:extLst>
          </c:dPt>
          <c:dPt>
            <c:idx val="2"/>
            <c:bubble3D val="0"/>
            <c:spPr>
              <a:solidFill>
                <a:srgbClr val="E886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A4B-42E8-ABB2-97D5AE8332B2}"/>
              </c:ext>
            </c:extLst>
          </c:dPt>
          <c:dLbls>
            <c:dLbl>
              <c:idx val="0"/>
              <c:layout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1-5A4B-42E8-ABB2-97D5AE8332B2}"/>
                </c:ext>
              </c:extLst>
            </c:dLbl>
            <c:dLbl>
              <c:idx val="1"/>
              <c:layout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3-5A4B-42E8-ABB2-97D5AE8332B2}"/>
                </c:ext>
              </c:extLst>
            </c:dLbl>
            <c:dLbl>
              <c:idx val="2"/>
              <c:layout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5-5A4B-42E8-ABB2-97D5AE8332B2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Sheet1!$A$2:$A$4</c:f>
              <c:strCache>
                <c:ptCount val="3"/>
                <c:pt idx="0">
                  <c:v>Vehicular</c:v>
                </c:pt>
                <c:pt idx="1">
                  <c:v>Construction</c:v>
                </c:pt>
                <c:pt idx="2">
                  <c:v>Industrial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30</c:v>
                </c:pt>
                <c:pt idx="2">
                  <c:v>10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5A4B-42E8-ABB2-97D5AE8332B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</c:pie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Predicted AQI</c:v>
                </c:pt>
              </c:strCache>
            </c:strRef>
          </c:tx>
          <c:spPr>
            <a:ln w="38100" cap="flat">
              <a:solidFill>
                <a:srgbClr val="E8862E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E8862E"/>
              </a:solidFill>
              <a:ln w="9525" cap="flat">
                <a:solidFill>
                  <a:srgbClr val="E8862E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Now</c:v>
                </c:pt>
                <c:pt idx="1">
                  <c:v>+12h</c:v>
                </c:pt>
                <c:pt idx="2">
                  <c:v>+24h</c:v>
                </c:pt>
                <c:pt idx="3">
                  <c:v>+36h</c:v>
                </c:pt>
                <c:pt idx="4">
                  <c:v>+48h</c:v>
                </c:pt>
                <c:pt idx="5">
                  <c:v>+60h</c:v>
                </c:pt>
                <c:pt idx="6">
                  <c:v>+72h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210</c:v>
                </c:pt>
                <c:pt idx="1">
                  <c:v>245</c:v>
                </c:pt>
                <c:pt idx="2">
                  <c:v>290</c:v>
                </c:pt>
                <c:pt idx="3">
                  <c:v>320</c:v>
                </c:pt>
                <c:pt idx="4">
                  <c:v>295</c:v>
                </c:pt>
                <c:pt idx="5">
                  <c:v>250</c:v>
                </c:pt>
                <c:pt idx="6">
                  <c:v>220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0-B910-4FFF-B9A0-30DABDBB17E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Persistence baseline</c:v>
                </c:pt>
              </c:strCache>
            </c:strRef>
          </c:tx>
          <c:spPr>
            <a:ln w="38100" cap="flat">
              <a:solidFill>
                <a:srgbClr val="5C6B73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5C6B73"/>
              </a:solidFill>
              <a:ln w="9525" cap="flat">
                <a:solidFill>
                  <a:srgbClr val="5C6B73"/>
                </a:solidFill>
                <a:prstDash val="solid"/>
                <a:round/>
              </a:ln>
              <a:effectLst/>
            </c:spPr>
          </c:marker>
          <c:cat>
            <c:strRef>
              <c:f>Sheet1!$A$2:$A$8</c:f>
              <c:strCache>
                <c:ptCount val="7"/>
                <c:pt idx="0">
                  <c:v>Now</c:v>
                </c:pt>
                <c:pt idx="1">
                  <c:v>+12h</c:v>
                </c:pt>
                <c:pt idx="2">
                  <c:v>+24h</c:v>
                </c:pt>
                <c:pt idx="3">
                  <c:v>+36h</c:v>
                </c:pt>
                <c:pt idx="4">
                  <c:v>+48h</c:v>
                </c:pt>
                <c:pt idx="5">
                  <c:v>+60h</c:v>
                </c:pt>
                <c:pt idx="6">
                  <c:v>+72h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210</c:v>
                </c:pt>
                <c:pt idx="1">
                  <c:v>210</c:v>
                </c:pt>
                <c:pt idx="2">
                  <c:v>210</c:v>
                </c:pt>
                <c:pt idx="3">
                  <c:v>210</c:v>
                </c:pt>
                <c:pt idx="4">
                  <c:v>210</c:v>
                </c:pt>
                <c:pt idx="5">
                  <c:v>210</c:v>
                </c:pt>
                <c:pt idx="6">
                  <c:v>210</c:v>
                </c:pt>
              </c:numCache>
            </c:numRef>
          </c:val>
          <c:smooth val="1"/>
          <c:extLst>
            <c:ext xmlns:c16="http://schemas.microsoft.com/office/drawing/2014/chart" uri="{C3380CC4-5D6E-409C-BE32-E72D297353CC}">
              <c16:uniqueId val="{00000001-B910-4FFF-B9A0-30DABDBB17E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Impact</c:v>
                </c:pt>
              </c:strCache>
            </c:strRef>
          </c:tx>
          <c:spPr>
            <a:solidFill>
              <a:srgbClr val="E8862E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F2A33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Rohini</c:v>
                </c:pt>
                <c:pt idx="1">
                  <c:v>NH48</c:v>
                </c:pt>
                <c:pt idx="2">
                  <c:v>Bawana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12</c:v>
                </c:pt>
                <c:pt idx="2">
                  <c:v>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1B2-4382-B6C2-1B902CBF46C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B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Weight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B3B5F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59CB-4A6C-A158-7CF0804522FB}"/>
              </c:ext>
            </c:extLst>
          </c:dPt>
          <c:dPt>
            <c:idx val="1"/>
            <c:bubble3D val="0"/>
            <c:spPr>
              <a:solidFill>
                <a:srgbClr val="4F86A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59CB-4A6C-A158-7CF0804522FB}"/>
              </c:ext>
            </c:extLst>
          </c:dPt>
          <c:dPt>
            <c:idx val="2"/>
            <c:bubble3D val="0"/>
            <c:spPr>
              <a:solidFill>
                <a:srgbClr val="E886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59CB-4A6C-A158-7CF0804522FB}"/>
              </c:ext>
            </c:extLst>
          </c:dPt>
          <c:dPt>
            <c:idx val="3"/>
            <c:bubble3D val="0"/>
            <c:spPr>
              <a:solidFill>
                <a:srgbClr val="8FB7C9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59CB-4A6C-A158-7CF0804522FB}"/>
              </c:ext>
            </c:extLst>
          </c:dPt>
          <c:dPt>
            <c:idx val="4"/>
            <c:bubble3D val="0"/>
            <c:spPr>
              <a:solidFill>
                <a:srgbClr val="C9D8D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59CB-4A6C-A158-7CF0804522FB}"/>
              </c:ext>
            </c:extLst>
          </c:dPt>
          <c:dLbls>
            <c:dLbl>
              <c:idx val="0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1-59CB-4A6C-A158-7CF0804522FB}"/>
                </c:ext>
              </c:extLst>
            </c:dLbl>
            <c:dLbl>
              <c:idx val="1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3-59CB-4A6C-A158-7CF0804522FB}"/>
                </c:ext>
              </c:extLst>
            </c:dLbl>
            <c:dLbl>
              <c:idx val="2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5-59CB-4A6C-A158-7CF0804522FB}"/>
                </c:ext>
              </c:extLst>
            </c:dLbl>
            <c:dLbl>
              <c:idx val="3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7-59CB-4A6C-A158-7CF0804522FB}"/>
                </c:ext>
              </c:extLst>
            </c:dLbl>
            <c:dLbl>
              <c:idx val="4"/>
              <c:layout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layout/>
                </c:ext>
                <c:ext xmlns:c16="http://schemas.microsoft.com/office/drawing/2014/chart" uri="{C3380CC4-5D6E-409C-BE32-E72D297353CC}">
                  <c16:uniqueId val="{00000009-59CB-4A6C-A158-7CF0804522F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Innovation</c:v>
                </c:pt>
                <c:pt idx="1">
                  <c:v>Business Impact</c:v>
                </c:pt>
                <c:pt idx="2">
                  <c:v>Technical Excellence</c:v>
                </c:pt>
                <c:pt idx="3">
                  <c:v>Scalability</c:v>
                </c:pt>
                <c:pt idx="4">
                  <c:v>User Experience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</c:v>
                </c:pt>
                <c:pt idx="1">
                  <c:v>25</c:v>
                </c:pt>
                <c:pt idx="2">
                  <c:v>20</c:v>
                </c:pt>
                <c:pt idx="3">
                  <c:v>15</c:v>
                </c:pt>
                <c:pt idx="4">
                  <c:v>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59CB-4A6C-A158-7CF0804522F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layout/>
      <c:overlay val="0"/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232108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png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9.png"/><Relationship Id="rId10" Type="http://schemas.openxmlformats.org/officeDocument/2006/relationships/image" Target="../media/image20.png"/><Relationship Id="rId4" Type="http://schemas.openxmlformats.org/officeDocument/2006/relationships/image" Target="../media/image18.png"/><Relationship Id="rId9" Type="http://schemas.openxmlformats.org/officeDocument/2006/relationships/image" Target="../media/image17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1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194560"/>
            <a:ext cx="6400800" cy="6400800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4206240"/>
            <a:ext cx="4206240" cy="4206240"/>
          </a:xfrm>
          <a:prstGeom prst="ellipse">
            <a:avLst/>
          </a:prstGeom>
          <a:solidFill>
            <a:srgbClr val="4F86A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822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 AI HACKATHON 2026  ·  SMART CITIES / ENVIRONMENTAL INTELLIGENCE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94360" y="1325880"/>
            <a:ext cx="9601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PRAANA</a:t>
            </a:r>
            <a:endParaRPr lang="en-US" sz="8000" dirty="0"/>
          </a:p>
        </p:txBody>
      </p:sp>
      <p:sp>
        <p:nvSpPr>
          <p:cNvPr id="6" name="Text 4"/>
          <p:cNvSpPr/>
          <p:nvPr/>
        </p:nvSpPr>
        <p:spPr>
          <a:xfrm>
            <a:off x="594360" y="2788920"/>
            <a:ext cx="9144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i="1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Predictive Real-time Attribution and Action for National Air quality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594360" y="342900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Urban Air Quality Intelligence for Smart City Intervention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4114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</a:t>
            </a:r>
            <a:r>
              <a:rPr lang="en-US" sz="1300" dirty="0" err="1" smtClean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Pheonix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" y="4434840"/>
            <a:ext cx="566928" cy="56692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68" y="4525548"/>
            <a:ext cx="385511" cy="38551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274320" y="50749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499616" y="4718304"/>
            <a:ext cx="457200" cy="0"/>
          </a:xfrm>
          <a:prstGeom prst="line">
            <a:avLst/>
          </a:prstGeom>
          <a:noFill/>
          <a:ln w="19050">
            <a:solidFill>
              <a:srgbClr val="7FA8BC"/>
            </a:solidFill>
            <a:prstDash val="dash"/>
          </a:ln>
        </p:spPr>
      </p:sp>
      <p:sp>
        <p:nvSpPr>
          <p:cNvPr id="13" name="Shape 10"/>
          <p:cNvSpPr/>
          <p:nvPr/>
        </p:nvSpPr>
        <p:spPr>
          <a:xfrm>
            <a:off x="1920240" y="4434840"/>
            <a:ext cx="566928" cy="56692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0948" y="4525548"/>
            <a:ext cx="385511" cy="385511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600200" y="50749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Attribute &amp; Forecast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2825496" y="4718304"/>
            <a:ext cx="457200" cy="0"/>
          </a:xfrm>
          <a:prstGeom prst="line">
            <a:avLst/>
          </a:prstGeom>
          <a:noFill/>
          <a:ln w="19050">
            <a:solidFill>
              <a:srgbClr val="7FA8BC"/>
            </a:solidFill>
            <a:prstDash val="dash"/>
          </a:ln>
        </p:spPr>
      </p:sp>
      <p:sp>
        <p:nvSpPr>
          <p:cNvPr id="17" name="Shape 13"/>
          <p:cNvSpPr/>
          <p:nvPr/>
        </p:nvSpPr>
        <p:spPr>
          <a:xfrm>
            <a:off x="3246120" y="4434840"/>
            <a:ext cx="566928" cy="56692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6828" y="4525548"/>
            <a:ext cx="385511" cy="385511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2926080" y="50749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050" dirty="0"/>
          </a:p>
        </p:txBody>
      </p:sp>
      <p:sp>
        <p:nvSpPr>
          <p:cNvPr id="20" name="Shape 15"/>
          <p:cNvSpPr/>
          <p:nvPr/>
        </p:nvSpPr>
        <p:spPr>
          <a:xfrm>
            <a:off x="4151376" y="4718304"/>
            <a:ext cx="457200" cy="0"/>
          </a:xfrm>
          <a:prstGeom prst="line">
            <a:avLst/>
          </a:prstGeom>
          <a:noFill/>
          <a:ln w="19050">
            <a:solidFill>
              <a:srgbClr val="7FA8BC"/>
            </a:solidFill>
            <a:prstDash val="dash"/>
          </a:ln>
        </p:spPr>
      </p:sp>
      <p:sp>
        <p:nvSpPr>
          <p:cNvPr id="21" name="Shape 16"/>
          <p:cNvSpPr/>
          <p:nvPr/>
        </p:nvSpPr>
        <p:spPr>
          <a:xfrm>
            <a:off x="4572000" y="4434840"/>
            <a:ext cx="566928" cy="56692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2708" y="4525548"/>
            <a:ext cx="385511" cy="385511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4251960" y="5074920"/>
            <a:ext cx="12070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Communicate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594360" y="60350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Solution Document &amp; Pitch Deck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India's Air Crisis Is a National Emergency — Not Just Delhi's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6916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892808"/>
            <a:ext cx="457200" cy="45720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965960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81965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1.67M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795528" y="246888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Premature deaths/year from air pollution in India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95528" y="3163824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Lancet Planetary Health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4315968" y="16916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17136" y="1892808"/>
            <a:ext cx="457200" cy="45720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90288" y="1965960"/>
            <a:ext cx="310896" cy="31089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093208" y="181965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218</a:t>
            </a:r>
            <a:endParaRPr lang="en-US" sz="3000" dirty="0"/>
          </a:p>
        </p:txBody>
      </p:sp>
      <p:sp>
        <p:nvSpPr>
          <p:cNvPr id="14" name="Text 10"/>
          <p:cNvSpPr/>
          <p:nvPr/>
        </p:nvSpPr>
        <p:spPr>
          <a:xfrm>
            <a:off x="4517136" y="246888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Delhi's average AQI in 2024–25 — 'Poor' or worse 200+ days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17136" y="3163824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8037576" y="1691640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38744" y="1892808"/>
            <a:ext cx="457200" cy="45720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1896" y="1965960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14816" y="1819656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60+</a:t>
            </a:r>
            <a:endParaRPr lang="en-US" sz="3000" dirty="0"/>
          </a:p>
        </p:txBody>
      </p:sp>
      <p:sp>
        <p:nvSpPr>
          <p:cNvPr id="20" name="Text 15"/>
          <p:cNvSpPr/>
          <p:nvPr/>
        </p:nvSpPr>
        <p:spPr>
          <a:xfrm>
            <a:off x="8238744" y="2468880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Mumbai recorded dangerous AQI levels in 2024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238744" y="3163824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594360" y="3675888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795528" y="3877056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680" y="3950208"/>
            <a:ext cx="310896" cy="31089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371600" y="38039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24/50</a:t>
            </a:r>
            <a:endParaRPr lang="en-US" sz="3000" dirty="0"/>
          </a:p>
        </p:txBody>
      </p:sp>
      <p:sp>
        <p:nvSpPr>
          <p:cNvPr id="26" name="Text 20"/>
          <p:cNvSpPr/>
          <p:nvPr/>
        </p:nvSpPr>
        <p:spPr>
          <a:xfrm>
            <a:off x="795528" y="4453128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India's most polluted cities are Tier-1/Tier-2 metros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795528" y="5148072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2024</a:t>
            </a:r>
            <a:endParaRPr lang="en-US" sz="850" dirty="0"/>
          </a:p>
        </p:txBody>
      </p:sp>
      <p:sp>
        <p:nvSpPr>
          <p:cNvPr id="28" name="Shape 22"/>
          <p:cNvSpPr/>
          <p:nvPr/>
        </p:nvSpPr>
        <p:spPr>
          <a:xfrm>
            <a:off x="4315968" y="3675888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17136" y="3877056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0288" y="3950208"/>
            <a:ext cx="310896" cy="310896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5093208" y="38039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900+</a:t>
            </a:r>
            <a:endParaRPr lang="en-US" sz="3000" dirty="0"/>
          </a:p>
        </p:txBody>
      </p:sp>
      <p:sp>
        <p:nvSpPr>
          <p:cNvPr id="32" name="Text 25"/>
          <p:cNvSpPr/>
          <p:nvPr/>
        </p:nvSpPr>
        <p:spPr>
          <a:xfrm>
            <a:off x="4517136" y="4453128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CAAQMS stations already deployed nationally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4517136" y="5148072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NCAP</a:t>
            </a:r>
            <a:endParaRPr lang="en-US" sz="850" dirty="0"/>
          </a:p>
        </p:txBody>
      </p:sp>
      <p:sp>
        <p:nvSpPr>
          <p:cNvPr id="34" name="Shape 27"/>
          <p:cNvSpPr/>
          <p:nvPr/>
        </p:nvSpPr>
        <p:spPr>
          <a:xfrm>
            <a:off x="8037576" y="3675888"/>
            <a:ext cx="3520440" cy="178308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8238744" y="3877056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1896" y="3950208"/>
            <a:ext cx="310896" cy="310896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8814816" y="3803904"/>
            <a:ext cx="2606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31%</a:t>
            </a:r>
            <a:endParaRPr lang="en-US" sz="3000" dirty="0"/>
          </a:p>
        </p:txBody>
      </p:sp>
      <p:sp>
        <p:nvSpPr>
          <p:cNvPr id="38" name="Text 30"/>
          <p:cNvSpPr/>
          <p:nvPr/>
        </p:nvSpPr>
        <p:spPr>
          <a:xfrm>
            <a:off x="8238744" y="4453128"/>
            <a:ext cx="311810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cities with monitoring data have any actionable response protocol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8238744" y="5148072"/>
            <a:ext cx="31181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CAG Audit 2024</a:t>
            </a:r>
            <a:endParaRPr lang="en-US" sz="850" dirty="0"/>
          </a:p>
        </p:txBody>
      </p:sp>
      <p:sp>
        <p:nvSpPr>
          <p:cNvPr id="40" name="Text 32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16</a:t>
            </a:r>
            <a:endParaRPr lang="en-US" sz="900" dirty="0"/>
          </a:p>
        </p:txBody>
      </p:sp>
      <p:sp>
        <p:nvSpPr>
          <p:cNvPr id="41" name="Text 33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Data Exists. The Intelligence Layer Does Not.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 answer one question. City administrators need answers to three.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874520"/>
            <a:ext cx="35204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084832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540" y="2153412"/>
            <a:ext cx="320040" cy="3200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17320" y="20299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22960" y="2560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causing this pollution right now?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15968" y="1874520"/>
            <a:ext cx="35204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544568" y="2084832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3148" y="2153412"/>
            <a:ext cx="320040" cy="3200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38928" y="20299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bad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4544568" y="2560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it get over the next 72 hours?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8037576" y="1874520"/>
            <a:ext cx="3520440" cy="1463040"/>
          </a:xfrm>
          <a:prstGeom prst="roundRect">
            <a:avLst>
              <a:gd name="adj" fmla="val 562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266176" y="2084832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4756" y="2153412"/>
            <a:ext cx="320040" cy="32004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860536" y="2029968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</a:t>
            </a:r>
            <a:endParaRPr lang="en-US" sz="1800" dirty="0"/>
          </a:p>
        </p:txBody>
      </p:sp>
      <p:sp>
        <p:nvSpPr>
          <p:cNvPr id="19" name="Text 14"/>
          <p:cNvSpPr/>
          <p:nvPr/>
        </p:nvSpPr>
        <p:spPr>
          <a:xfrm>
            <a:off x="8266176" y="256032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 enforcement be sent today?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594360" y="3547872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answers all three together. IITM-DSS and SAFAR come closest — but stop at diagnosis.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594360" y="4005072"/>
            <a:ext cx="5212080" cy="2304288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822960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EXISTS TODAY</a:t>
            </a:r>
            <a:endParaRPr lang="en-US" sz="1000" dirty="0"/>
          </a:p>
        </p:txBody>
      </p:sp>
      <p:sp>
        <p:nvSpPr>
          <p:cNvPr id="23" name="Text 18"/>
          <p:cNvSpPr/>
          <p:nvPr/>
        </p:nvSpPr>
        <p:spPr>
          <a:xfrm>
            <a:off x="822960" y="44622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IITM-DSS: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source apportionment (29 sources), Delhi NCR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822960" y="490118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SAFAR: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3–10 day city-level AQI forecasts for 7 cities</a:t>
            </a:r>
            <a:endParaRPr lang="en-US" sz="1100" dirty="0"/>
          </a:p>
        </p:txBody>
      </p:sp>
      <p:sp>
        <p:nvSpPr>
          <p:cNvPr id="25" name="Text 20"/>
          <p:cNvSpPr/>
          <p:nvPr/>
        </p:nvSpPr>
        <p:spPr>
          <a:xfrm>
            <a:off x="822960" y="534009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CPCB Dashboard: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the current AQI reading</a:t>
            </a:r>
            <a:endParaRPr lang="en-US" sz="1100" dirty="0"/>
          </a:p>
        </p:txBody>
      </p:sp>
      <p:sp>
        <p:nvSpPr>
          <p:cNvPr id="26" name="Text 21"/>
          <p:cNvSpPr/>
          <p:nvPr/>
        </p:nvSpPr>
        <p:spPr>
          <a:xfrm>
            <a:off x="822960" y="577900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IQAir / apps: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City-level AQI number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035040" y="4005072"/>
            <a:ext cx="5212080" cy="2304288"/>
          </a:xfrm>
          <a:prstGeom prst="roundRect">
            <a:avLst>
              <a:gd name="adj" fmla="val 3571"/>
            </a:avLst>
          </a:prstGeom>
          <a:solidFill>
            <a:srgbClr val="1B3B5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8" name="Text 23"/>
          <p:cNvSpPr/>
          <p:nvPr/>
        </p:nvSpPr>
        <p:spPr>
          <a:xfrm>
            <a:off x="6263640" y="41513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PRAANA ADDS ON TOP</a:t>
            </a:r>
            <a:endParaRPr lang="en-US" sz="1000" dirty="0"/>
          </a:p>
        </p:txBody>
      </p:sp>
      <p:sp>
        <p:nvSpPr>
          <p:cNvPr id="29" name="Text 24"/>
          <p:cNvSpPr/>
          <p:nvPr/>
        </p:nvSpPr>
        <p:spPr>
          <a:xfrm>
            <a:off x="6263640" y="4462272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1km ward-level granularity (not just city-level)</a:t>
            </a:r>
            <a:endParaRPr lang="en-US" sz="1100" dirty="0"/>
          </a:p>
        </p:txBody>
      </p:sp>
      <p:sp>
        <p:nvSpPr>
          <p:cNvPr id="30" name="Text 25"/>
          <p:cNvSpPr/>
          <p:nvPr/>
        </p:nvSpPr>
        <p:spPr>
          <a:xfrm>
            <a:off x="6263640" y="4901184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Ranked enforcement actions — which site to inspect today</a:t>
            </a:r>
            <a:endParaRPr lang="en-US" sz="1100" dirty="0"/>
          </a:p>
        </p:txBody>
      </p:sp>
      <p:sp>
        <p:nvSpPr>
          <p:cNvPr id="31" name="Text 26"/>
          <p:cNvSpPr/>
          <p:nvPr/>
        </p:nvSpPr>
        <p:spPr>
          <a:xfrm>
            <a:off x="6263640" y="5340096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learning loop — tracks what interventions worked</a:t>
            </a:r>
            <a:endParaRPr lang="en-US" sz="1100" dirty="0"/>
          </a:p>
        </p:txBody>
      </p:sp>
      <p:sp>
        <p:nvSpPr>
          <p:cNvPr id="32" name="Text 27"/>
          <p:cNvSpPr/>
          <p:nvPr/>
        </p:nvSpPr>
        <p:spPr>
          <a:xfrm>
            <a:off x="6263640" y="5779008"/>
            <a:ext cx="4846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Regional-language citizen advisories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16</a:t>
            </a:r>
            <a:endParaRPr lang="en-US" sz="900" dirty="0"/>
          </a:p>
        </p:txBody>
      </p:sp>
      <p:sp>
        <p:nvSpPr>
          <p:cNvPr id="34" name="Text 29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Coordinated AI Agents, One Mission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→ Attribute to source → Forecast 24–72hrs → Rank enforcement → Compare across cities → Communicate to citizens.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94360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7" name="Shape 5"/>
          <p:cNvSpPr/>
          <p:nvPr/>
        </p:nvSpPr>
        <p:spPr>
          <a:xfrm>
            <a:off x="594360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8" name="Shape 6"/>
          <p:cNvSpPr/>
          <p:nvPr/>
        </p:nvSpPr>
        <p:spPr>
          <a:xfrm>
            <a:off x="1307592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98300" y="2330988"/>
            <a:ext cx="385511" cy="38551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594360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22376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Attribution Engine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722376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Chemical fingerprinting + causal AI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2752344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2752344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15" name="Shape 12"/>
          <p:cNvSpPr/>
          <p:nvPr/>
        </p:nvSpPr>
        <p:spPr>
          <a:xfrm>
            <a:off x="2752344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16" name="Shape 13"/>
          <p:cNvSpPr/>
          <p:nvPr/>
        </p:nvSpPr>
        <p:spPr>
          <a:xfrm>
            <a:off x="3465576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56284" y="2330988"/>
            <a:ext cx="385511" cy="385511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2752344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2880360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Hyperlocal Forecasting Agent</a:t>
            </a:r>
            <a:endParaRPr lang="en-US" sz="1300" dirty="0"/>
          </a:p>
        </p:txBody>
      </p:sp>
      <p:sp>
        <p:nvSpPr>
          <p:cNvPr id="20" name="Text 16"/>
          <p:cNvSpPr/>
          <p:nvPr/>
        </p:nvSpPr>
        <p:spPr>
          <a:xfrm>
            <a:off x="2880360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GNN + atmospheric dispersion, 1km/72hr</a:t>
            </a:r>
            <a:endParaRPr lang="en-US" sz="1000" dirty="0"/>
          </a:p>
        </p:txBody>
      </p:sp>
      <p:sp>
        <p:nvSpPr>
          <p:cNvPr id="21" name="Shape 17"/>
          <p:cNvSpPr/>
          <p:nvPr/>
        </p:nvSpPr>
        <p:spPr>
          <a:xfrm>
            <a:off x="4910328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4910328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23" name="Shape 19"/>
          <p:cNvSpPr/>
          <p:nvPr/>
        </p:nvSpPr>
        <p:spPr>
          <a:xfrm>
            <a:off x="4910328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24" name="Shape 20"/>
          <p:cNvSpPr/>
          <p:nvPr/>
        </p:nvSpPr>
        <p:spPr>
          <a:xfrm>
            <a:off x="5623560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4268" y="2330988"/>
            <a:ext cx="385511" cy="385511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4910328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</a:t>
            </a:r>
            <a:endParaRPr lang="en-US" sz="1000" dirty="0"/>
          </a:p>
        </p:txBody>
      </p:sp>
      <p:sp>
        <p:nvSpPr>
          <p:cNvPr id="27" name="Text 22"/>
          <p:cNvSpPr/>
          <p:nvPr/>
        </p:nvSpPr>
        <p:spPr>
          <a:xfrm>
            <a:off x="5038344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Enforcement Intelligence Agent</a:t>
            </a:r>
            <a:endParaRPr lang="en-US" sz="1300" dirty="0"/>
          </a:p>
        </p:txBody>
      </p:sp>
      <p:sp>
        <p:nvSpPr>
          <p:cNvPr id="28" name="Text 23"/>
          <p:cNvSpPr/>
          <p:nvPr/>
        </p:nvSpPr>
        <p:spPr>
          <a:xfrm>
            <a:off x="5038344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Ranks actions by expected AQI impact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7068312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5"/>
          <p:cNvSpPr/>
          <p:nvPr/>
        </p:nvSpPr>
        <p:spPr>
          <a:xfrm>
            <a:off x="7068312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31" name="Shape 26"/>
          <p:cNvSpPr/>
          <p:nvPr/>
        </p:nvSpPr>
        <p:spPr>
          <a:xfrm>
            <a:off x="7068312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32" name="Shape 27"/>
          <p:cNvSpPr/>
          <p:nvPr/>
        </p:nvSpPr>
        <p:spPr>
          <a:xfrm>
            <a:off x="7781544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72252" y="2330988"/>
            <a:ext cx="385511" cy="385511"/>
          </a:xfrm>
          <a:prstGeom prst="rect">
            <a:avLst/>
          </a:prstGeom>
        </p:spPr>
      </p:pic>
      <p:sp>
        <p:nvSpPr>
          <p:cNvPr id="34" name="Text 28"/>
          <p:cNvSpPr/>
          <p:nvPr/>
        </p:nvSpPr>
        <p:spPr>
          <a:xfrm>
            <a:off x="7068312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</a:t>
            </a:r>
            <a:endParaRPr lang="en-US" sz="1000" dirty="0"/>
          </a:p>
        </p:txBody>
      </p:sp>
      <p:sp>
        <p:nvSpPr>
          <p:cNvPr id="35" name="Text 29"/>
          <p:cNvSpPr/>
          <p:nvPr/>
        </p:nvSpPr>
        <p:spPr>
          <a:xfrm>
            <a:off x="7196328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Multi-City Comparator</a:t>
            </a:r>
            <a:endParaRPr lang="en-US" sz="1300" dirty="0"/>
          </a:p>
        </p:txBody>
      </p:sp>
      <p:sp>
        <p:nvSpPr>
          <p:cNvPr id="36" name="Text 30"/>
          <p:cNvSpPr/>
          <p:nvPr/>
        </p:nvSpPr>
        <p:spPr>
          <a:xfrm>
            <a:off x="7196328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Cross-city trend &amp; intervention learning</a:t>
            </a:r>
            <a:endParaRPr lang="en-US" sz="1000" dirty="0"/>
          </a:p>
        </p:txBody>
      </p:sp>
      <p:sp>
        <p:nvSpPr>
          <p:cNvPr id="37" name="Shape 31"/>
          <p:cNvSpPr/>
          <p:nvPr/>
        </p:nvSpPr>
        <p:spPr>
          <a:xfrm>
            <a:off x="9226296" y="2103120"/>
            <a:ext cx="1993392" cy="3611880"/>
          </a:xfrm>
          <a:prstGeom prst="roundRect">
            <a:avLst>
              <a:gd name="adj" fmla="val 412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8" name="Shape 32"/>
          <p:cNvSpPr/>
          <p:nvPr/>
        </p:nvSpPr>
        <p:spPr>
          <a:xfrm>
            <a:off x="9226296" y="2103120"/>
            <a:ext cx="1993392" cy="822960"/>
          </a:xfrm>
          <a:prstGeom prst="roundRect">
            <a:avLst>
              <a:gd name="adj" fmla="val 10000"/>
            </a:avLst>
          </a:prstGeom>
          <a:solidFill>
            <a:srgbClr val="1B3B5F"/>
          </a:solidFill>
          <a:ln/>
        </p:spPr>
      </p:sp>
      <p:sp>
        <p:nvSpPr>
          <p:cNvPr id="39" name="Shape 33"/>
          <p:cNvSpPr/>
          <p:nvPr/>
        </p:nvSpPr>
        <p:spPr>
          <a:xfrm>
            <a:off x="9226296" y="2606040"/>
            <a:ext cx="1993392" cy="320040"/>
          </a:xfrm>
          <a:prstGeom prst="rect">
            <a:avLst/>
          </a:prstGeom>
          <a:solidFill>
            <a:srgbClr val="1B3B5F"/>
          </a:solidFill>
          <a:ln/>
        </p:spPr>
      </p:sp>
      <p:sp>
        <p:nvSpPr>
          <p:cNvPr id="40" name="Shape 34"/>
          <p:cNvSpPr/>
          <p:nvPr/>
        </p:nvSpPr>
        <p:spPr>
          <a:xfrm>
            <a:off x="9939528" y="2240280"/>
            <a:ext cx="566928" cy="566928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4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30236" y="2330988"/>
            <a:ext cx="385511" cy="385511"/>
          </a:xfrm>
          <a:prstGeom prst="rect">
            <a:avLst/>
          </a:prstGeom>
        </p:spPr>
      </p:pic>
      <p:sp>
        <p:nvSpPr>
          <p:cNvPr id="42" name="Text 35"/>
          <p:cNvSpPr/>
          <p:nvPr/>
        </p:nvSpPr>
        <p:spPr>
          <a:xfrm>
            <a:off x="9226296" y="3017520"/>
            <a:ext cx="199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88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A5</a:t>
            </a:r>
            <a:endParaRPr lang="en-US" sz="1000" dirty="0"/>
          </a:p>
        </p:txBody>
      </p:sp>
      <p:sp>
        <p:nvSpPr>
          <p:cNvPr id="43" name="Text 36"/>
          <p:cNvSpPr/>
          <p:nvPr/>
        </p:nvSpPr>
        <p:spPr>
          <a:xfrm>
            <a:off x="9354312" y="329184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Citizen Health Advisory</a:t>
            </a:r>
            <a:endParaRPr lang="en-US" sz="1300" dirty="0"/>
          </a:p>
        </p:txBody>
      </p:sp>
      <p:sp>
        <p:nvSpPr>
          <p:cNvPr id="44" name="Text 37"/>
          <p:cNvSpPr/>
          <p:nvPr/>
        </p:nvSpPr>
        <p:spPr>
          <a:xfrm>
            <a:off x="9354312" y="4206240"/>
            <a:ext cx="17373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Regional-language alerts via app &amp; IVR</a:t>
            </a:r>
            <a:endParaRPr lang="en-US" sz="1000" dirty="0"/>
          </a:p>
        </p:txBody>
      </p:sp>
      <p:sp>
        <p:nvSpPr>
          <p:cNvPr id="45" name="Text 38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16</a:t>
            </a:r>
            <a:endParaRPr lang="en-US" sz="900" dirty="0"/>
          </a:p>
        </p:txBody>
      </p:sp>
      <p:sp>
        <p:nvSpPr>
          <p:cNvPr id="46" name="Text 39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Five Data Sources to Three Action Surfaces</a:t>
            </a:r>
            <a:endParaRPr lang="en-US" sz="2800" dirty="0"/>
          </a:p>
        </p:txBody>
      </p:sp>
      <p:pic>
        <p:nvPicPr>
          <p:cNvPr id="4" name="Image 0" descr="/home/claude/praana2/arch_us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7367" y="1417320"/>
            <a:ext cx="8636962" cy="5029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16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PIPELINE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Data Families, Merged Into One Hourly Feed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13816" y="2002536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5746" y="2084466"/>
            <a:ext cx="348204" cy="34820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63040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OpenAQ v3 (CPCB-sourced)</a:t>
            </a:r>
            <a:endParaRPr lang="en-US" sz="1450" dirty="0"/>
          </a:p>
        </p:txBody>
      </p:sp>
      <p:sp>
        <p:nvSpPr>
          <p:cNvPr id="8" name="Text 5"/>
          <p:cNvSpPr/>
          <p:nvPr/>
        </p:nvSpPr>
        <p:spPr>
          <a:xfrm>
            <a:off x="813816" y="2679192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PM2.5, PM10, NO2, SO2, CO, O3 • all 5 cities • hourly • live today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315968" y="178308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535424" y="2002536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354" y="2084466"/>
            <a:ext cx="348204" cy="34820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184648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Open-Meteo</a:t>
            </a:r>
            <a:endParaRPr lang="en-US" sz="1450" dirty="0"/>
          </a:p>
        </p:txBody>
      </p:sp>
      <p:sp>
        <p:nvSpPr>
          <p:cNvPr id="13" name="Text 9"/>
          <p:cNvSpPr/>
          <p:nvPr/>
        </p:nvSpPr>
        <p:spPr>
          <a:xfrm>
            <a:off x="4535424" y="2679192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Wind, temperature, humidity, rainfall • hourly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8037576" y="1783080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257032" y="2002536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338962" y="2084466"/>
            <a:ext cx="348204" cy="348204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906256" y="196596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Sentinel-5P</a:t>
            </a:r>
            <a:endParaRPr lang="en-US" sz="1450" dirty="0"/>
          </a:p>
        </p:txBody>
      </p:sp>
      <p:sp>
        <p:nvSpPr>
          <p:cNvPr id="18" name="Text 13"/>
          <p:cNvSpPr/>
          <p:nvPr/>
        </p:nvSpPr>
        <p:spPr>
          <a:xfrm>
            <a:off x="8257032" y="2679192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NO2 / SO2 / CO from orbit • daily, city-wide • roadmap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94360" y="3858768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813816" y="4078224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5746" y="4160154"/>
            <a:ext cx="348204" cy="348204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1463040" y="404164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MODIS Fire</a:t>
            </a:r>
            <a:endParaRPr lang="en-US" sz="1450" dirty="0"/>
          </a:p>
        </p:txBody>
      </p:sp>
      <p:sp>
        <p:nvSpPr>
          <p:cNvPr id="23" name="Text 17"/>
          <p:cNvSpPr/>
          <p:nvPr/>
        </p:nvSpPr>
        <p:spPr>
          <a:xfrm>
            <a:off x="813816" y="4754880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Crop-burning hotspots, Punjab &amp; Haryana • roadmap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315968" y="3858768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4535424" y="4078224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17354" y="4160154"/>
            <a:ext cx="348204" cy="348204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84648" y="404164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OpenStreetMap</a:t>
            </a:r>
            <a:endParaRPr lang="en-US" sz="1450" dirty="0"/>
          </a:p>
        </p:txBody>
      </p:sp>
      <p:sp>
        <p:nvSpPr>
          <p:cNvPr id="28" name="Text 21"/>
          <p:cNvSpPr/>
          <p:nvPr/>
        </p:nvSpPr>
        <p:spPr>
          <a:xfrm>
            <a:off x="4535424" y="4754880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Industry, highways, construction, schools • live today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8037576" y="3858768"/>
            <a:ext cx="3520440" cy="1874520"/>
          </a:xfrm>
          <a:prstGeom prst="roundRect">
            <a:avLst>
              <a:gd name="adj" fmla="val 439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8257032" y="4078224"/>
            <a:ext cx="512064" cy="512064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338962" y="4160154"/>
            <a:ext cx="348204" cy="348204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8906256" y="4041648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Census + DataMeet</a:t>
            </a:r>
            <a:endParaRPr lang="en-US" sz="1450" dirty="0"/>
          </a:p>
        </p:txBody>
      </p:sp>
      <p:sp>
        <p:nvSpPr>
          <p:cNvPr id="33" name="Text 25"/>
          <p:cNvSpPr/>
          <p:nvPr/>
        </p:nvSpPr>
        <p:spPr>
          <a:xfrm>
            <a:off x="8257032" y="4754880"/>
            <a:ext cx="308152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270 ward boundaries • population per ward</a:t>
            </a:r>
            <a:endParaRPr lang="en-US" sz="1050" dirty="0"/>
          </a:p>
        </p:txBody>
      </p:sp>
      <p:sp>
        <p:nvSpPr>
          <p:cNvPr id="34" name="Text 26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16</a:t>
            </a:r>
            <a:endParaRPr lang="en-US" sz="900" dirty="0"/>
          </a:p>
        </p:txBody>
      </p:sp>
      <p:sp>
        <p:nvSpPr>
          <p:cNvPr id="35" name="Text 27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1 · WHO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Source Has a Chemical Fingerprint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37944"/>
            <a:ext cx="109728" cy="109728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5" name="Text 3"/>
          <p:cNvSpPr/>
          <p:nvPr/>
        </p:nvSpPr>
        <p:spPr>
          <a:xfrm>
            <a:off x="850392" y="1728216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Diesel vehicles: high NO2 + CO, moderate PM2.5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94360" y="2368296"/>
            <a:ext cx="109728" cy="109728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7" name="Text 5"/>
          <p:cNvSpPr/>
          <p:nvPr/>
        </p:nvSpPr>
        <p:spPr>
          <a:xfrm>
            <a:off x="850392" y="2258568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sites: very high PM10, low NO2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94360" y="2898648"/>
            <a:ext cx="109728" cy="109728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9" name="Text 7"/>
          <p:cNvSpPr/>
          <p:nvPr/>
        </p:nvSpPr>
        <p:spPr>
          <a:xfrm>
            <a:off x="850392" y="2788920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Crop burning: very high PM2.5 + CO, organic markers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94360" y="3429000"/>
            <a:ext cx="109728" cy="109728"/>
          </a:xfrm>
          <a:prstGeom prst="ellipse">
            <a:avLst/>
          </a:prstGeom>
          <a:solidFill>
            <a:srgbClr val="E8862E"/>
          </a:solidFill>
          <a:ln/>
        </p:spPr>
      </p:sp>
      <p:sp>
        <p:nvSpPr>
          <p:cNvPr id="11" name="Text 9"/>
          <p:cNvSpPr/>
          <p:nvPr/>
        </p:nvSpPr>
        <p:spPr>
          <a:xfrm>
            <a:off x="850392" y="33192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 stacks: high SO2 + NO2, heavy-metal traces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94360" y="3950208"/>
            <a:ext cx="5669280" cy="1417320"/>
          </a:xfrm>
          <a:prstGeom prst="roundRect">
            <a:avLst>
              <a:gd name="adj" fmla="val 5806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95528" y="4087368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Causal AI, not just correlation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5528" y="4453128"/>
            <a:ext cx="5303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PM10 spikes downwind of a known construction site, confirmed against live wind direction — not misattributed to local traffic.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537960" y="1783080"/>
            <a:ext cx="5059375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766560" y="1920240"/>
            <a:ext cx="46021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reading: ward attribution</a:t>
            </a:r>
            <a:endParaRPr lang="en-US" sz="1150" dirty="0"/>
          </a:p>
        </p:txBody>
      </p:sp>
      <p:graphicFrame>
        <p:nvGraphicFramePr>
          <p:cNvPr id="17" name="Chart 0"/>
          <p:cNvGraphicFramePr/>
          <p:nvPr/>
        </p:nvGraphicFramePr>
        <p:xfrm>
          <a:off x="6858000" y="2286000"/>
          <a:ext cx="4419295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8" name="Text 15"/>
          <p:cNvSpPr/>
          <p:nvPr/>
        </p:nvSpPr>
        <p:spPr>
          <a:xfrm>
            <a:off x="6766560" y="5257800"/>
            <a:ext cx="46021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PM2.5=180 · PM10=220 · NO2=85 · SO2=12 · CO=45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16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2 · HOW BAD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1km-Resolution AQI Forecasts, 24–72 Hours Ahead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28800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1894088"/>
            <a:ext cx="253472" cy="253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4712" y="1773936"/>
            <a:ext cx="4407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(running today): three independently trained models, one per forecast horizon, on 5 years of Delhi data.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94360" y="2907792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2973080"/>
            <a:ext cx="253472" cy="253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24712" y="2852928"/>
            <a:ext cx="4407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Graph Neural Network treating stations as a connected network, blended with a physics-based dispersion model.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94360" y="3986784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4052072"/>
            <a:ext cx="253472" cy="253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24712" y="3931920"/>
            <a:ext cx="4407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Output: a time slider — drag forward 24 / 48 / 72 hours to see predicted AQI for every ward.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715000" y="1783080"/>
            <a:ext cx="5882335" cy="425196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Text 9"/>
          <p:cNvSpPr/>
          <p:nvPr/>
        </p:nvSpPr>
        <p:spPr>
          <a:xfrm>
            <a:off x="5943600" y="1920240"/>
            <a:ext cx="54251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example — Ward AQI, next 72 hours</a:t>
            </a:r>
            <a:endParaRPr lang="en-US" sz="1150" dirty="0"/>
          </a:p>
        </p:txBody>
      </p:sp>
      <p:graphicFrame>
        <p:nvGraphicFramePr>
          <p:cNvPr id="15" name="Chart 0"/>
          <p:cNvGraphicFramePr/>
          <p:nvPr/>
        </p:nvGraphicFramePr>
        <p:xfrm>
          <a:off x="5989320" y="2331720"/>
          <a:ext cx="5333695" cy="3383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6" name="Text 10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16</a:t>
            </a:r>
            <a:endParaRPr lang="en-US" sz="900" dirty="0"/>
          </a:p>
        </p:txBody>
      </p:sp>
      <p:sp>
        <p:nvSpPr>
          <p:cNvPr id="17" name="Text 11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3 · WHERE TO ACT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Ranked, Evidence-Backed Action List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possible enforcement action across the city, scored by expected AQI impact.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740664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95528" y="2212848"/>
            <a:ext cx="566928" cy="566928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7" name="Text 5"/>
          <p:cNvSpPr/>
          <p:nvPr/>
        </p:nvSpPr>
        <p:spPr>
          <a:xfrm>
            <a:off x="795528" y="22128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554480" y="211226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Inspect construction site — Rohini Sector 15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1554480" y="251460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18% PM10 reduction, NW Delhi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94360" y="3200400"/>
            <a:ext cx="740664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795528" y="3447288"/>
            <a:ext cx="566928" cy="566928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12" name="Text 10"/>
          <p:cNvSpPr/>
          <p:nvPr/>
        </p:nvSpPr>
        <p:spPr>
          <a:xfrm>
            <a:off x="795528" y="344728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554480" y="334670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Diesel-vehicle checkpoint — NH48 entry point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554480" y="374904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12% NO2 reduction, Dwarka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4434840"/>
            <a:ext cx="7406640" cy="1078992"/>
          </a:xfrm>
          <a:prstGeom prst="roundRect">
            <a:avLst>
              <a:gd name="adj" fmla="val 762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795528" y="4681728"/>
            <a:ext cx="566928" cy="566928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17" name="Text 15"/>
          <p:cNvSpPr/>
          <p:nvPr/>
        </p:nvSpPr>
        <p:spPr>
          <a:xfrm>
            <a:off x="795528" y="468172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581144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Notice to industrial cluster — Bawana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54480" y="4983480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9% SO2 reduction, NW corridor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75320" y="1965960"/>
            <a:ext cx="3322015" cy="3703320"/>
          </a:xfrm>
          <a:prstGeom prst="roundRect">
            <a:avLst>
              <a:gd name="adj" fmla="val 247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8476488" y="2103120"/>
            <a:ext cx="29196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Expected impact (%)</a:t>
            </a:r>
            <a:endParaRPr lang="en-US" sz="1100" dirty="0"/>
          </a:p>
        </p:txBody>
      </p:sp>
      <p:graphicFrame>
        <p:nvGraphicFramePr>
          <p:cNvPr id="22" name="Chart 0"/>
          <p:cNvGraphicFramePr/>
          <p:nvPr/>
        </p:nvGraphicFramePr>
        <p:xfrm>
          <a:off x="8503920" y="2423160"/>
          <a:ext cx="2864815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3" name="Text 20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16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4 · MULTI-CITY COMPARATOR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Five Cities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basic AQI comparison across all 5 cities today; deeper per-city validation (forecast models, wind-check) is the roadmap, not onboarding.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94360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339596" y="2148840"/>
            <a:ext cx="502920" cy="50292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20063" y="2229307"/>
            <a:ext cx="341986" cy="341986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85800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Delhi NCR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deepest validation (forecast + wind-check)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2752344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97580" y="2148840"/>
            <a:ext cx="502920" cy="50292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78047" y="2229307"/>
            <a:ext cx="341986" cy="34198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843784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Mumbai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2843784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deepest validation (forecast + wind-check)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4910328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5655564" y="2148840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36031" y="2229307"/>
            <a:ext cx="341986" cy="34198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001768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Kolkata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5001768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basic comparison (deep validation is roadmap)</a:t>
            </a:r>
            <a:endParaRPr lang="en-US" sz="950" dirty="0"/>
          </a:p>
        </p:txBody>
      </p:sp>
      <p:sp>
        <p:nvSpPr>
          <p:cNvPr id="20" name="Shape 15"/>
          <p:cNvSpPr/>
          <p:nvPr/>
        </p:nvSpPr>
        <p:spPr>
          <a:xfrm>
            <a:off x="7068312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7813548" y="2148840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94015" y="2229307"/>
            <a:ext cx="341986" cy="341986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7159752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Bengaluru</a:t>
            </a:r>
            <a:endParaRPr lang="en-US" sz="1400" dirty="0"/>
          </a:p>
        </p:txBody>
      </p:sp>
      <p:sp>
        <p:nvSpPr>
          <p:cNvPr id="24" name="Text 18"/>
          <p:cNvSpPr/>
          <p:nvPr/>
        </p:nvSpPr>
        <p:spPr>
          <a:xfrm>
            <a:off x="7159752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basic comparison (deep validation is roadmap)</a:t>
            </a:r>
            <a:endParaRPr lang="en-US" sz="950" dirty="0"/>
          </a:p>
        </p:txBody>
      </p:sp>
      <p:sp>
        <p:nvSpPr>
          <p:cNvPr id="25" name="Shape 19"/>
          <p:cNvSpPr/>
          <p:nvPr/>
        </p:nvSpPr>
        <p:spPr>
          <a:xfrm>
            <a:off x="9226296" y="1965960"/>
            <a:ext cx="1993392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9971532" y="2148840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1999" y="2229307"/>
            <a:ext cx="341986" cy="341986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9317736" y="2788920"/>
            <a:ext cx="18105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Chennai</a:t>
            </a:r>
            <a:endParaRPr lang="en-US" sz="1400" dirty="0"/>
          </a:p>
        </p:txBody>
      </p:sp>
      <p:sp>
        <p:nvSpPr>
          <p:cNvPr id="29" name="Text 22"/>
          <p:cNvSpPr/>
          <p:nvPr/>
        </p:nvSpPr>
        <p:spPr>
          <a:xfrm>
            <a:off x="9317736" y="3200400"/>
            <a:ext cx="1810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— basic comparison (deep validation is roadmap)</a:t>
            </a:r>
            <a:endParaRPr lang="en-US" sz="950" dirty="0"/>
          </a:p>
        </p:txBody>
      </p:sp>
      <p:sp>
        <p:nvSpPr>
          <p:cNvPr id="30" name="Shape 23"/>
          <p:cNvSpPr/>
          <p:nvPr/>
        </p:nvSpPr>
        <p:spPr>
          <a:xfrm>
            <a:off x="594360" y="4023360"/>
            <a:ext cx="11002975" cy="2103120"/>
          </a:xfrm>
          <a:prstGeom prst="roundRect">
            <a:avLst>
              <a:gd name="adj" fmla="val 3913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1" name="Text 24"/>
          <p:cNvSpPr/>
          <p:nvPr/>
        </p:nvSpPr>
        <p:spPr>
          <a:xfrm>
            <a:off x="822960" y="41605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Cross-city learning loop</a:t>
            </a:r>
            <a:endParaRPr lang="en-US" sz="1350" dirty="0"/>
          </a:p>
        </p:txBody>
      </p:sp>
      <p:sp>
        <p:nvSpPr>
          <p:cNvPr id="32" name="Text 25"/>
          <p:cNvSpPr/>
          <p:nvPr/>
        </p:nvSpPr>
        <p:spPr>
          <a:xfrm>
            <a:off x="822960" y="4526280"/>
            <a:ext cx="1054577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city deploys a recommended action, the dashboard tracks realised AQI change vs. predicted change — building a growing evidence base of what actually works, and surfacing successful interventions as candidates for wards with a similar source-attribution profile in other cities.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16</a:t>
            </a:r>
            <a:endParaRPr lang="en-US" sz="900" dirty="0"/>
          </a:p>
        </p:txBody>
      </p:sp>
      <p:sp>
        <p:nvSpPr>
          <p:cNvPr id="34" name="Text 27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5 · CITIZEN HEALTH ADVISORY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Reaching Every Citizen, In Their Own Language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874520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1939808"/>
            <a:ext cx="253472" cy="253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24712" y="1801368"/>
            <a:ext cx="5230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Ward-level AQI now + 72hr forecast, in plain language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94360" y="2788920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2854208"/>
            <a:ext cx="253472" cy="253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24712" y="2715768"/>
            <a:ext cx="5230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schools, hospitals &amp; outdoor workers against forecast risk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594360" y="3703320"/>
            <a:ext cx="384048" cy="384048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648" y="3768608"/>
            <a:ext cx="253472" cy="253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24712" y="3630168"/>
            <a:ext cx="5230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Roadmap: answering natural questions like 'Is it safe to walk my child to school tomorrow?'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594360" y="4663440"/>
            <a:ext cx="5760720" cy="1417320"/>
          </a:xfrm>
          <a:prstGeom prst="roundRect">
            <a:avLst>
              <a:gd name="adj" fmla="val 5806"/>
            </a:avLst>
          </a:prstGeom>
          <a:solidFill>
            <a:srgbClr val="1B3B5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95528" y="4846320"/>
            <a:ext cx="457200" cy="45720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4108" y="4914900"/>
            <a:ext cx="320040" cy="320040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1417320" y="47823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Sample advisory — Hindi</a:t>
            </a:r>
            <a:endParaRPr lang="en-US" sz="1050" dirty="0"/>
          </a:p>
        </p:txBody>
      </p:sp>
      <p:sp>
        <p:nvSpPr>
          <p:cNvPr id="17" name="Text 11"/>
          <p:cNvSpPr/>
          <p:nvPr/>
        </p:nvSpPr>
        <p:spPr>
          <a:xfrm>
            <a:off x="795528" y="5148072"/>
            <a:ext cx="53583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“Kal subah Rohini mein AQI 280 rahega. Bahar exercise na karein.”</a:t>
            </a:r>
            <a:endParaRPr lang="en-US" sz="1300" dirty="0"/>
          </a:p>
        </p:txBody>
      </p:sp>
      <p:sp>
        <p:nvSpPr>
          <p:cNvPr id="18" name="Shape 12"/>
          <p:cNvSpPr/>
          <p:nvPr/>
        </p:nvSpPr>
        <p:spPr>
          <a:xfrm>
            <a:off x="6720840" y="1828800"/>
            <a:ext cx="4876495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9" name="Text 13"/>
          <p:cNvSpPr/>
          <p:nvPr/>
        </p:nvSpPr>
        <p:spPr>
          <a:xfrm>
            <a:off x="6949440" y="1993392"/>
            <a:ext cx="44192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Language coverage by city (Hindi live today; rest are roadmap)</a:t>
            </a:r>
            <a:endParaRPr 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6949440" y="2423160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2466685"/>
            <a:ext cx="223845" cy="22384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360920" y="2404872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Delhi NCR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Hindi (live)</a:t>
            </a:r>
            <a:endParaRPr lang="en-US" sz="1250" dirty="0"/>
          </a:p>
        </p:txBody>
      </p:sp>
      <p:sp>
        <p:nvSpPr>
          <p:cNvPr id="23" name="Shape 16"/>
          <p:cNvSpPr/>
          <p:nvPr/>
        </p:nvSpPr>
        <p:spPr>
          <a:xfrm>
            <a:off x="6949440" y="2990088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3033613"/>
            <a:ext cx="223845" cy="223845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7360920" y="2971800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Mumbai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Marathi (roadmap)</a:t>
            </a:r>
            <a:endParaRPr lang="en-US" sz="1250" dirty="0"/>
          </a:p>
        </p:txBody>
      </p:sp>
      <p:sp>
        <p:nvSpPr>
          <p:cNvPr id="26" name="Shape 18"/>
          <p:cNvSpPr/>
          <p:nvPr/>
        </p:nvSpPr>
        <p:spPr>
          <a:xfrm>
            <a:off x="6949440" y="3557016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3600541"/>
            <a:ext cx="223845" cy="223845"/>
          </a:xfrm>
          <a:prstGeom prst="rect">
            <a:avLst/>
          </a:prstGeom>
        </p:spPr>
      </p:pic>
      <p:sp>
        <p:nvSpPr>
          <p:cNvPr id="28" name="Text 19"/>
          <p:cNvSpPr/>
          <p:nvPr/>
        </p:nvSpPr>
        <p:spPr>
          <a:xfrm>
            <a:off x="7360920" y="3538728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Kolkata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Bengali (roadmap)</a:t>
            </a:r>
            <a:endParaRPr lang="en-US" sz="1250" dirty="0"/>
          </a:p>
        </p:txBody>
      </p:sp>
      <p:sp>
        <p:nvSpPr>
          <p:cNvPr id="29" name="Shape 20"/>
          <p:cNvSpPr/>
          <p:nvPr/>
        </p:nvSpPr>
        <p:spPr>
          <a:xfrm>
            <a:off x="6949440" y="4123944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4167469"/>
            <a:ext cx="223845" cy="223845"/>
          </a:xfrm>
          <a:prstGeom prst="rect">
            <a:avLst/>
          </a:prstGeom>
        </p:spPr>
      </p:pic>
      <p:sp>
        <p:nvSpPr>
          <p:cNvPr id="31" name="Text 21"/>
          <p:cNvSpPr/>
          <p:nvPr/>
        </p:nvSpPr>
        <p:spPr>
          <a:xfrm>
            <a:off x="7360920" y="4105656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Bengaluru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Kannada (roadmap)</a:t>
            </a:r>
            <a:endParaRPr lang="en-US" sz="1250" dirty="0"/>
          </a:p>
        </p:txBody>
      </p:sp>
      <p:sp>
        <p:nvSpPr>
          <p:cNvPr id="32" name="Shape 22"/>
          <p:cNvSpPr/>
          <p:nvPr/>
        </p:nvSpPr>
        <p:spPr>
          <a:xfrm>
            <a:off x="6949440" y="4690872"/>
            <a:ext cx="310896" cy="310896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2965" y="4734397"/>
            <a:ext cx="223845" cy="223845"/>
          </a:xfrm>
          <a:prstGeom prst="rect">
            <a:avLst/>
          </a:prstGeom>
        </p:spPr>
      </p:pic>
      <p:sp>
        <p:nvSpPr>
          <p:cNvPr id="34" name="Text 23"/>
          <p:cNvSpPr/>
          <p:nvPr/>
        </p:nvSpPr>
        <p:spPr>
          <a:xfrm>
            <a:off x="7360920" y="4672584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Chennai  </a:t>
            </a:r>
            <a:r>
              <a:rPr lang="en-US" sz="12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Tamil (roadmap)</a:t>
            </a:r>
            <a:endParaRPr lang="en-US" sz="1250" dirty="0"/>
          </a:p>
        </p:txBody>
      </p:sp>
      <p:sp>
        <p:nvSpPr>
          <p:cNvPr id="35" name="Text 24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16</a:t>
            </a:r>
            <a:endParaRPr lang="en-US" sz="900" dirty="0"/>
          </a:p>
        </p:txBody>
      </p:sp>
      <p:sp>
        <p:nvSpPr>
          <p:cNvPr id="36" name="Text 25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STACK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Suggested Technology, Implemented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64208" y="196596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7360" y="2039112"/>
            <a:ext cx="310896" cy="3108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04088" y="25511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Geospatial &amp; Remote Sensing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04088" y="2971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Sentinel-5P + MODIS + OSM Overpass API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3355848" y="178308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25696" y="196596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98848" y="2039112"/>
            <a:ext cx="310896" cy="310896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465576" y="25511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Multi-Agent AI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3465576" y="2971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Python orchestrator (prototype)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 / CrewAI (roadmap)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6117336" y="178308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187184" y="196596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60336" y="2039112"/>
            <a:ext cx="310896" cy="310896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227064" y="25511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Real-Time IoT Integration</a:t>
            </a:r>
            <a:endParaRPr lang="en-US" sz="1100" dirty="0"/>
          </a:p>
        </p:txBody>
      </p:sp>
      <p:sp>
        <p:nvSpPr>
          <p:cNvPr id="18" name="Text 13"/>
          <p:cNvSpPr/>
          <p:nvPr/>
        </p:nvSpPr>
        <p:spPr>
          <a:xfrm>
            <a:off x="6227064" y="2971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OpenAQ v3 API • Open-Meteo • 40+ CAAQMS stations</a:t>
            </a:r>
            <a:endParaRPr lang="en-US" sz="850" dirty="0"/>
          </a:p>
        </p:txBody>
      </p:sp>
      <p:sp>
        <p:nvSpPr>
          <p:cNvPr id="19" name="Shape 14"/>
          <p:cNvSpPr/>
          <p:nvPr/>
        </p:nvSpPr>
        <p:spPr>
          <a:xfrm>
            <a:off x="8878824" y="178308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9948672" y="196596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21824" y="2039112"/>
            <a:ext cx="310896" cy="310896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8988552" y="255117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Atmospheric Dispersion</a:t>
            </a:r>
            <a:endParaRPr lang="en-US" sz="1100" dirty="0"/>
          </a:p>
        </p:txBody>
      </p:sp>
      <p:sp>
        <p:nvSpPr>
          <p:cNvPr id="23" name="Text 17"/>
          <p:cNvSpPr/>
          <p:nvPr/>
        </p:nvSpPr>
        <p:spPr>
          <a:xfrm>
            <a:off x="8988552" y="297180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Gaussian-plume model blended with GBR forecast</a:t>
            </a:r>
            <a:endParaRPr lang="en-US" sz="850" dirty="0"/>
          </a:p>
        </p:txBody>
      </p:sp>
      <p:sp>
        <p:nvSpPr>
          <p:cNvPr id="24" name="Shape 18"/>
          <p:cNvSpPr/>
          <p:nvPr/>
        </p:nvSpPr>
        <p:spPr>
          <a:xfrm>
            <a:off x="594360" y="379476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1664208" y="397764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737360" y="4050792"/>
            <a:ext cx="310896" cy="310896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704088" y="45628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Predictive Analytics</a:t>
            </a:r>
            <a:endParaRPr lang="en-US" sz="1100" dirty="0"/>
          </a:p>
        </p:txBody>
      </p:sp>
      <p:sp>
        <p:nvSpPr>
          <p:cNvPr id="28" name="Text 21"/>
          <p:cNvSpPr/>
          <p:nvPr/>
        </p:nvSpPr>
        <p:spPr>
          <a:xfrm>
            <a:off x="704088" y="4983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 GradientBoostingRegressor (prototype)</a:t>
            </a:r>
            <a:endParaRPr lang="en-US" sz="850" dirty="0"/>
          </a:p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 Geometric GNN (roadmap)</a:t>
            </a:r>
            <a:endParaRPr lang="en-US" sz="850" dirty="0"/>
          </a:p>
        </p:txBody>
      </p:sp>
      <p:sp>
        <p:nvSpPr>
          <p:cNvPr id="29" name="Shape 22"/>
          <p:cNvSpPr/>
          <p:nvPr/>
        </p:nvSpPr>
        <p:spPr>
          <a:xfrm>
            <a:off x="3355848" y="379476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4425696" y="397764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98848" y="4050792"/>
            <a:ext cx="310896" cy="310896"/>
          </a:xfrm>
          <a:prstGeom prst="rect">
            <a:avLst/>
          </a:prstGeom>
        </p:spPr>
      </p:pic>
      <p:sp>
        <p:nvSpPr>
          <p:cNvPr id="32" name="Text 24"/>
          <p:cNvSpPr/>
          <p:nvPr/>
        </p:nvSpPr>
        <p:spPr>
          <a:xfrm>
            <a:off x="3465576" y="45628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Causal Inference</a:t>
            </a:r>
            <a:endParaRPr lang="en-US" sz="1100" dirty="0"/>
          </a:p>
        </p:txBody>
      </p:sp>
      <p:sp>
        <p:nvSpPr>
          <p:cNvPr id="33" name="Text 25"/>
          <p:cNvSpPr/>
          <p:nvPr/>
        </p:nvSpPr>
        <p:spPr>
          <a:xfrm>
            <a:off x="3465576" y="4983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Cosine-similarity fingerprint + wind confounder adjustment</a:t>
            </a:r>
            <a:endParaRPr lang="en-US" sz="850" dirty="0"/>
          </a:p>
        </p:txBody>
      </p:sp>
      <p:sp>
        <p:nvSpPr>
          <p:cNvPr id="34" name="Shape 26"/>
          <p:cNvSpPr/>
          <p:nvPr/>
        </p:nvSpPr>
        <p:spPr>
          <a:xfrm>
            <a:off x="6117336" y="379476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35" name="Shape 27"/>
          <p:cNvSpPr/>
          <p:nvPr/>
        </p:nvSpPr>
        <p:spPr>
          <a:xfrm>
            <a:off x="7187184" y="397764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36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60336" y="4050792"/>
            <a:ext cx="310896" cy="310896"/>
          </a:xfrm>
          <a:prstGeom prst="rect">
            <a:avLst/>
          </a:prstGeom>
        </p:spPr>
      </p:pic>
      <p:sp>
        <p:nvSpPr>
          <p:cNvPr id="37" name="Text 28"/>
          <p:cNvSpPr/>
          <p:nvPr/>
        </p:nvSpPr>
        <p:spPr>
          <a:xfrm>
            <a:off x="6227064" y="45628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LLMs, Multi-Language</a:t>
            </a:r>
            <a:endParaRPr lang="en-US" sz="1100" dirty="0"/>
          </a:p>
        </p:txBody>
      </p:sp>
      <p:sp>
        <p:nvSpPr>
          <p:cNvPr id="38" name="Text 29"/>
          <p:cNvSpPr/>
          <p:nvPr/>
        </p:nvSpPr>
        <p:spPr>
          <a:xfrm>
            <a:off x="6227064" y="4983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Template-based (prototype) · Anthropic Claude API (roadmap)</a:t>
            </a:r>
            <a:endParaRPr lang="en-US" sz="850" dirty="0"/>
          </a:p>
        </p:txBody>
      </p:sp>
      <p:sp>
        <p:nvSpPr>
          <p:cNvPr id="39" name="Shape 30"/>
          <p:cNvSpPr/>
          <p:nvPr/>
        </p:nvSpPr>
        <p:spPr>
          <a:xfrm>
            <a:off x="8878824" y="3794760"/>
            <a:ext cx="2596896" cy="182880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40" name="Shape 31"/>
          <p:cNvSpPr/>
          <p:nvPr/>
        </p:nvSpPr>
        <p:spPr>
          <a:xfrm>
            <a:off x="9948672" y="3977640"/>
            <a:ext cx="457200" cy="457200"/>
          </a:xfrm>
          <a:prstGeom prst="ellipse">
            <a:avLst/>
          </a:prstGeom>
          <a:solidFill>
            <a:srgbClr val="1B3B5F"/>
          </a:solidFill>
          <a:ln/>
        </p:spPr>
      </p:sp>
      <p:pic>
        <p:nvPicPr>
          <p:cNvPr id="41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021824" y="4050792"/>
            <a:ext cx="310896" cy="310896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8988552" y="4562856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Frontend &amp; Data</a:t>
            </a:r>
            <a:endParaRPr lang="en-US" sz="1100" dirty="0"/>
          </a:p>
        </p:txBody>
      </p:sp>
      <p:sp>
        <p:nvSpPr>
          <p:cNvPr id="43" name="Text 33"/>
          <p:cNvSpPr/>
          <p:nvPr/>
        </p:nvSpPr>
        <p:spPr>
          <a:xfrm>
            <a:off x="8988552" y="498348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+ Plotly + pandas/Parquet (live, running)</a:t>
            </a:r>
            <a:endParaRPr lang="en-US" sz="850" dirty="0"/>
          </a:p>
        </p:txBody>
      </p:sp>
      <p:sp>
        <p:nvSpPr>
          <p:cNvPr id="44" name="Text 34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16</a:t>
            </a:r>
            <a:endParaRPr lang="en-US" sz="900" dirty="0"/>
          </a:p>
        </p:txBody>
      </p:sp>
      <p:sp>
        <p:nvSpPr>
          <p:cNvPr id="45" name="Text 35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We Prove It Works — Including Real Numbers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19072"/>
            <a:ext cx="11002975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758952" y="18288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463040" y="1764792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Source attribution accuracy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5257800" y="1764792"/>
            <a:ext cx="6202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Benchmarked vs. IIT-K / CPCB source-apportionment ground truth per source category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94360" y="2569464"/>
            <a:ext cx="11002975" cy="1005840"/>
          </a:xfrm>
          <a:prstGeom prst="roundRect">
            <a:avLst>
              <a:gd name="adj" fmla="val 8182"/>
            </a:avLst>
          </a:prstGeom>
          <a:solidFill>
            <a:srgbClr val="F0F8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58952" y="267919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2615184"/>
            <a:ext cx="3657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accuracy — ACTUAL RMSE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5257800" y="2615184"/>
            <a:ext cx="620237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24h: 80.9 vs baseline 112.9 (28.3% better) • 48h: 82.6 vs 114.3 (27.8%) • 72h: 83.8 vs 114.2 (26.6%)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Model: scikit-learn GBR, trained 2019–2023, tested on held-out 2024 data (8,760 hourly rows)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94360" y="3648456"/>
            <a:ext cx="11002975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758952" y="3758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463040" y="3694176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Enforcement recommendation quality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257800" y="3694176"/>
            <a:ext cx="6202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Rated by domain experts against the evidence trail — 1–5 relevance &amp; feasibility scale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94360" y="4498848"/>
            <a:ext cx="11002975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758952" y="46085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463040" y="4544568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Advisory relevance &amp; language coverage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257800" y="4544568"/>
            <a:ext cx="6202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Severity-match rate + 5 languages validated by native speakers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5349240"/>
            <a:ext cx="11002975" cy="777240"/>
          </a:xfrm>
          <a:prstGeom prst="roundRect">
            <a:avLst>
              <a:gd name="adj" fmla="val 10588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58952" y="545896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E886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63040" y="5394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Response-time reduction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5257800" y="5394960"/>
            <a:ext cx="6202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Signal-to-intervention time vs. documented baseline in pilot wards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16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JUDGING RUBRIC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Directly Against the Evaluation Weights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4937760" cy="4206240"/>
          </a:xfrm>
          <a:prstGeom prst="roundRect">
            <a:avLst>
              <a:gd name="adj" fmla="val 195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graphicFrame>
        <p:nvGraphicFramePr>
          <p:cNvPr id="5" name="Chart 0"/>
          <p:cNvGraphicFramePr/>
          <p:nvPr/>
        </p:nvGraphicFramePr>
        <p:xfrm>
          <a:off x="868680" y="1965960"/>
          <a:ext cx="4389120" cy="3840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Text 3"/>
          <p:cNvSpPr/>
          <p:nvPr/>
        </p:nvSpPr>
        <p:spPr>
          <a:xfrm>
            <a:off x="5989320" y="1828800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Innovation — 25%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5989320" y="2139696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Fingerprint + causal-AI attribution; IITM-DSS and SAFAR acknowledged — PRAANA's gap is ward-level enforcement prioritisation + cross-city learning.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5989320" y="2670048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Business Impact — 25%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5989320" y="2980944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Closes the CAG-identified 31% gap with a measurable, auditable action trail.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989320" y="3511296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Technical Excellence — 20%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5989320" y="3822192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per-horizon GBR models, wired live into the app, + wind-confounder attribution check, both running today; actual RMSE 80.9/82.6/83.8h vs 112.9/114.3/114.2 baseline (~27% improvement).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5989320" y="4352544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Scalability — 15%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5989320" y="4663440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City-agnostic pipeline — new city needs a feed, not new code.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5989320" y="5193792"/>
            <a:ext cx="5608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User Experience — 15%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5989320" y="5504688"/>
            <a:ext cx="56080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officer console + citizen app (live Streamlit dashboard).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16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4F8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94360" y="658368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Two Cities to a National Platform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94360" y="178308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1993392"/>
            <a:ext cx="502920" cy="502920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" y="2068830"/>
            <a:ext cx="352044" cy="3520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35608" y="1920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1 — Now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95528" y="260604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5 cities live for basic comparison; Delhi NCR + Mumbai have deepest validation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133088" y="2651760"/>
            <a:ext cx="146304" cy="0"/>
          </a:xfrm>
          <a:prstGeom prst="line">
            <a:avLst/>
          </a:prstGeom>
          <a:noFill/>
          <a:ln w="25400">
            <a:solidFill>
              <a:srgbClr val="4F86A0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4297680" y="178308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498848" y="1993392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4286" y="2068830"/>
            <a:ext cx="352044" cy="3520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138928" y="1920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2 — Next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498848" y="260604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forecast models + wind-check validation to Kolkata, Bengaluru, Chennai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7836408" y="2651760"/>
            <a:ext cx="146304" cy="0"/>
          </a:xfrm>
          <a:prstGeom prst="line">
            <a:avLst/>
          </a:prstGeom>
          <a:noFill/>
          <a:ln w="25400">
            <a:solidFill>
              <a:srgbClr val="4F86A0"/>
            </a:solidFill>
            <a:prstDash val="solid"/>
            <a:tailEnd type="triangle"/>
          </a:ln>
        </p:spPr>
      </p:sp>
      <p:sp>
        <p:nvSpPr>
          <p:cNvPr id="16" name="Shape 12"/>
          <p:cNvSpPr/>
          <p:nvPr/>
        </p:nvSpPr>
        <p:spPr>
          <a:xfrm>
            <a:off x="8001000" y="1783080"/>
            <a:ext cx="352044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202168" y="1993392"/>
            <a:ext cx="502920" cy="502920"/>
          </a:xfrm>
          <a:prstGeom prst="ellipse">
            <a:avLst/>
          </a:prstGeom>
          <a:solidFill>
            <a:srgbClr val="4F86A0"/>
          </a:solidFill>
          <a:ln/>
        </p:spPr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7606" y="2068830"/>
            <a:ext cx="352044" cy="35204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842248" y="192024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Wave 3 — Scale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202168" y="2606040"/>
            <a:ext cx="311810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city with CAAQMS coverage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594360" y="3749040"/>
            <a:ext cx="11002975" cy="2377440"/>
          </a:xfrm>
          <a:prstGeom prst="roundRect">
            <a:avLst>
              <a:gd name="adj" fmla="val 3462"/>
            </a:avLst>
          </a:prstGeom>
          <a:solidFill>
            <a:srgbClr val="FFFFFF"/>
          </a:solidFill>
          <a:ln/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</p:sp>
      <p:sp>
        <p:nvSpPr>
          <p:cNvPr id="22" name="Text 17"/>
          <p:cNvSpPr/>
          <p:nvPr/>
        </p:nvSpPr>
        <p:spPr>
          <a:xfrm>
            <a:off x="822960" y="3886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3B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Expected deliverables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822960" y="4297680"/>
            <a:ext cx="347472" cy="347472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56" y="4353276"/>
            <a:ext cx="236281" cy="23628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298448" y="4251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Prototype —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Streamlit dashboard + GBR model with real RMSE numbers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309360" y="4297680"/>
            <a:ext cx="347472" cy="347472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956" y="4353276"/>
            <a:ext cx="236281" cy="236281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6784848" y="425196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Diagram —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system diagram (this deck, slide 5)</a:t>
            </a:r>
            <a:endParaRPr lang="en-US" sz="1100" dirty="0"/>
          </a:p>
        </p:txBody>
      </p:sp>
      <p:sp>
        <p:nvSpPr>
          <p:cNvPr id="29" name="Shape 22"/>
          <p:cNvSpPr/>
          <p:nvPr/>
        </p:nvSpPr>
        <p:spPr>
          <a:xfrm>
            <a:off x="822960" y="5120640"/>
            <a:ext cx="347472" cy="347472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8556" y="5176236"/>
            <a:ext cx="236281" cy="236281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1298448" y="50749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Deck —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deck + accompanying solution document</a:t>
            </a:r>
            <a:endParaRPr lang="en-US" sz="1100" dirty="0"/>
          </a:p>
        </p:txBody>
      </p:sp>
      <p:sp>
        <p:nvSpPr>
          <p:cNvPr id="32" name="Shape 24"/>
          <p:cNvSpPr/>
          <p:nvPr/>
        </p:nvSpPr>
        <p:spPr>
          <a:xfrm>
            <a:off x="6309360" y="5120640"/>
            <a:ext cx="347472" cy="347472"/>
          </a:xfrm>
          <a:prstGeom prst="ellipse">
            <a:avLst/>
          </a:prstGeom>
          <a:solidFill>
            <a:srgbClr val="E8862E"/>
          </a:solidFill>
          <a:ln/>
        </p:spPr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64956" y="5176236"/>
            <a:ext cx="236281" cy="236281"/>
          </a:xfrm>
          <a:prstGeom prst="rect">
            <a:avLst/>
          </a:prstGeom>
        </p:spPr>
      </p:pic>
      <p:sp>
        <p:nvSpPr>
          <p:cNvPr id="34" name="Text 25"/>
          <p:cNvSpPr/>
          <p:nvPr/>
        </p:nvSpPr>
        <p:spPr>
          <a:xfrm>
            <a:off x="6784848" y="50749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3B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Video — </a:t>
            </a:r>
            <a:r>
              <a:rPr lang="en-US" sz="1100" dirty="0">
                <a:solidFill>
                  <a:srgbClr val="1F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Officer console + citizen app walkthrough</a:t>
            </a:r>
            <a:endParaRPr lang="en-US" sz="1100" dirty="0"/>
          </a:p>
        </p:txBody>
      </p:sp>
      <p:sp>
        <p:nvSpPr>
          <p:cNvPr id="35" name="Text 26"/>
          <p:cNvSpPr/>
          <p:nvPr/>
        </p:nvSpPr>
        <p:spPr>
          <a:xfrm>
            <a:off x="11002975" y="641908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16</a:t>
            </a:r>
            <a:endParaRPr lang="en-US" sz="900" dirty="0"/>
          </a:p>
        </p:txBody>
      </p:sp>
      <p:sp>
        <p:nvSpPr>
          <p:cNvPr id="36" name="Text 27"/>
          <p:cNvSpPr/>
          <p:nvPr/>
        </p:nvSpPr>
        <p:spPr>
          <a:xfrm>
            <a:off x="594360" y="6419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ET AI Hackathon 2026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2283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840480"/>
            <a:ext cx="5486400" cy="5486400"/>
          </a:xfrm>
          <a:prstGeom prst="ellipse">
            <a:avLst/>
          </a:prstGeom>
          <a:solidFill>
            <a:srgbClr val="1B3B5F"/>
          </a:solidFill>
          <a:ln/>
        </p:spPr>
      </p:sp>
      <p:sp>
        <p:nvSpPr>
          <p:cNvPr id="3" name="Shape 1"/>
          <p:cNvSpPr/>
          <p:nvPr/>
        </p:nvSpPr>
        <p:spPr>
          <a:xfrm>
            <a:off x="9601200" y="-2286000"/>
            <a:ext cx="4572000" cy="4572000"/>
          </a:xfrm>
          <a:prstGeom prst="ellipse">
            <a:avLst/>
          </a:prstGeom>
          <a:solidFill>
            <a:srgbClr val="4F86A0"/>
          </a:solidFill>
          <a:ln/>
        </p:spPr>
      </p:sp>
      <p:sp>
        <p:nvSpPr>
          <p:cNvPr id="4" name="Text 2"/>
          <p:cNvSpPr/>
          <p:nvPr/>
        </p:nvSpPr>
        <p:spPr>
          <a:xfrm>
            <a:off x="594360" y="13716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PITCH, IN ONE LINE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94360" y="1828800"/>
            <a:ext cx="10332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8000"/>
              </a:lnSpc>
              <a:buNone/>
            </a:pPr>
            <a:r>
              <a:rPr lang="en-US" sz="2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tell city governments not just that the air is bad — but exactly who is making it bad, how bad it will get tomorrow, and precisely where to send enforcement officers today to fix it.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594360" y="4434840"/>
            <a:ext cx="3200400" cy="0"/>
          </a:xfrm>
          <a:prstGeom prst="line">
            <a:avLst/>
          </a:prstGeom>
          <a:noFill/>
          <a:ln w="19050">
            <a:solidFill>
              <a:srgbClr val="7FA8B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4360" y="4617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DCEA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PRAANA — Predictive Real-time Attribution and Action for National Air quality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</a:t>
            </a:r>
            <a:r>
              <a:rPr lang="en-US" sz="1100" dirty="0" err="1" smtClean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Pheonix</a:t>
            </a:r>
            <a:r>
              <a:rPr lang="en-US" sz="1100" dirty="0" smtClean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</a:t>
            </a:r>
            <a:r>
              <a:rPr lang="en-US" sz="1100" dirty="0">
                <a:solidFill>
                  <a:srgbClr val="7F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https://github.com/Aaditee13/praana-air-quality-intelligence.git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1501</Words>
  <Application>Microsoft Office PowerPoint</Application>
  <PresentationFormat>Widescreen</PresentationFormat>
  <Paragraphs>260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0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PRAANA - AI-Powered Urban Air Quality Intelligence</dc:title>
  <dc:subject>PptxGenJS Presentation</dc:subject>
  <dc:creator>Team Phoenix — PRAANA</dc:creator>
  <cp:lastModifiedBy>dcfbharatpur23@gmail.com</cp:lastModifiedBy>
  <cp:revision>3</cp:revision>
  <dcterms:created xsi:type="dcterms:W3CDTF">2026-07-19T07:20:13Z</dcterms:created>
  <dcterms:modified xsi:type="dcterms:W3CDTF">2026-07-19T07:50:18Z</dcterms:modified>
</cp:coreProperties>
</file>