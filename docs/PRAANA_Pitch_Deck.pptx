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4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Source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B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A2C-44FB-B2C4-F165CF6B64E6}"/>
              </c:ext>
            </c:extLst>
          </c:dPt>
          <c:dPt>
            <c:idx val="1"/>
            <c:bubble3D val="0"/>
            <c:spPr>
              <a:solidFill>
                <a:srgbClr val="4F8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A2C-44FB-B2C4-F165CF6B64E6}"/>
              </c:ext>
            </c:extLst>
          </c:dPt>
          <c:dPt>
            <c:idx val="2"/>
            <c:bubble3D val="0"/>
            <c:spPr>
              <a:solidFill>
                <a:srgbClr val="E886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A2C-44FB-B2C4-F165CF6B64E6}"/>
              </c:ext>
            </c:extLst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0A2C-44FB-B2C4-F165CF6B64E6}"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0A2C-44FB-B2C4-F165CF6B64E6}"/>
                </c:ext>
              </c:extLst>
            </c:dLbl>
            <c:dLbl>
              <c:idx val="2"/>
              <c:layout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0A2C-44FB-B2C4-F165CF6B64E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Vehicular</c:v>
                </c:pt>
                <c:pt idx="1">
                  <c:v>Construction</c:v>
                </c:pt>
                <c:pt idx="2">
                  <c:v>Industrial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30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A2C-44FB-B2C4-F165CF6B64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 AQI</c:v>
                </c:pt>
              </c:strCache>
            </c:strRef>
          </c:tx>
          <c:spPr>
            <a:ln w="38100" cap="flat">
              <a:solidFill>
                <a:srgbClr val="E8862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862E"/>
              </a:solidFill>
              <a:ln w="9525" cap="flat">
                <a:solidFill>
                  <a:srgbClr val="E8862E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Now</c:v>
                </c:pt>
                <c:pt idx="1">
                  <c:v>+12h</c:v>
                </c:pt>
                <c:pt idx="2">
                  <c:v>+24h</c:v>
                </c:pt>
                <c:pt idx="3">
                  <c:v>+36h</c:v>
                </c:pt>
                <c:pt idx="4">
                  <c:v>+48h</c:v>
                </c:pt>
                <c:pt idx="5">
                  <c:v>+60h</c:v>
                </c:pt>
                <c:pt idx="6">
                  <c:v>+72h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210</c:v>
                </c:pt>
                <c:pt idx="1">
                  <c:v>245</c:v>
                </c:pt>
                <c:pt idx="2">
                  <c:v>290</c:v>
                </c:pt>
                <c:pt idx="3">
                  <c:v>320</c:v>
                </c:pt>
                <c:pt idx="4">
                  <c:v>295</c:v>
                </c:pt>
                <c:pt idx="5">
                  <c:v>250</c:v>
                </c:pt>
                <c:pt idx="6">
                  <c:v>220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B75-46FB-A2A9-1F55D344B2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Persistence baseline</c:v>
                </c:pt>
              </c:strCache>
            </c:strRef>
          </c:tx>
          <c:spPr>
            <a:ln w="38100" cap="flat">
              <a:solidFill>
                <a:srgbClr val="5C6B7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C6B73"/>
              </a:solidFill>
              <a:ln w="9525" cap="flat">
                <a:solidFill>
                  <a:srgbClr val="5C6B73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Now</c:v>
                </c:pt>
                <c:pt idx="1">
                  <c:v>+12h</c:v>
                </c:pt>
                <c:pt idx="2">
                  <c:v>+24h</c:v>
                </c:pt>
                <c:pt idx="3">
                  <c:v>+36h</c:v>
                </c:pt>
                <c:pt idx="4">
                  <c:v>+48h</c:v>
                </c:pt>
                <c:pt idx="5">
                  <c:v>+60h</c:v>
                </c:pt>
                <c:pt idx="6">
                  <c:v>+72h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210</c:v>
                </c:pt>
                <c:pt idx="1">
                  <c:v>210</c:v>
                </c:pt>
                <c:pt idx="2">
                  <c:v>210</c:v>
                </c:pt>
                <c:pt idx="3">
                  <c:v>210</c:v>
                </c:pt>
                <c:pt idx="4">
                  <c:v>210</c:v>
                </c:pt>
                <c:pt idx="5">
                  <c:v>210</c:v>
                </c:pt>
                <c:pt idx="6">
                  <c:v>210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5B75-46FB-A2A9-1F55D344B2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Impact</c:v>
                </c:pt>
              </c:strCache>
            </c:strRef>
          </c:tx>
          <c:spPr>
            <a:solidFill>
              <a:srgbClr val="E8862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A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Rohini</c:v>
                </c:pt>
                <c:pt idx="1">
                  <c:v>NH48</c:v>
                </c:pt>
                <c:pt idx="2">
                  <c:v>Bawana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12</c:v>
                </c:pt>
                <c:pt idx="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ED-4D36-B824-7B21AD48AD7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B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1E2-4D9A-9969-B9FBAF482060}"/>
              </c:ext>
            </c:extLst>
          </c:dPt>
          <c:dPt>
            <c:idx val="1"/>
            <c:bubble3D val="0"/>
            <c:spPr>
              <a:solidFill>
                <a:srgbClr val="4F8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1E2-4D9A-9969-B9FBAF482060}"/>
              </c:ext>
            </c:extLst>
          </c:dPt>
          <c:dPt>
            <c:idx val="2"/>
            <c:bubble3D val="0"/>
            <c:spPr>
              <a:solidFill>
                <a:srgbClr val="E886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1E2-4D9A-9969-B9FBAF482060}"/>
              </c:ext>
            </c:extLst>
          </c:dPt>
          <c:dPt>
            <c:idx val="3"/>
            <c:bubble3D val="0"/>
            <c:spPr>
              <a:solidFill>
                <a:srgbClr val="8FB7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1E2-4D9A-9969-B9FBAF482060}"/>
              </c:ext>
            </c:extLst>
          </c:dPt>
          <c:dPt>
            <c:idx val="4"/>
            <c:bubble3D val="0"/>
            <c:spPr>
              <a:solidFill>
                <a:srgbClr val="C9D8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1E2-4D9A-9969-B9FBAF482060}"/>
              </c:ext>
            </c:extLst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51E2-4D9A-9969-B9FBAF482060}"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51E2-4D9A-9969-B9FBAF482060}"/>
                </c:ext>
              </c:extLst>
            </c:dLbl>
            <c:dLbl>
              <c:idx val="2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51E2-4D9A-9969-B9FBAF482060}"/>
                </c:ext>
              </c:extLst>
            </c:dLbl>
            <c:dLbl>
              <c:idx val="3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51E2-4D9A-9969-B9FBAF482060}"/>
                </c:ext>
              </c:extLst>
            </c:dLbl>
            <c:dLbl>
              <c:idx val="4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9-51E2-4D9A-9969-B9FBAF48206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Innovation</c:v>
                </c:pt>
                <c:pt idx="1">
                  <c:v>Business Impact</c:v>
                </c:pt>
                <c:pt idx="2">
                  <c:v>Technical Excellence</c:v>
                </c:pt>
                <c:pt idx="3">
                  <c:v>Scalability</c:v>
                </c:pt>
                <c:pt idx="4">
                  <c:v>User Experience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1E2-4D9A-9969-B9FBAF4820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5998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9.png"/><Relationship Id="rId10" Type="http://schemas.openxmlformats.org/officeDocument/2006/relationships/image" Target="../media/image10.png"/><Relationship Id="rId4" Type="http://schemas.openxmlformats.org/officeDocument/2006/relationships/image" Target="../media/image18.png"/><Relationship Id="rId9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400800" cy="6400800"/>
          </a:xfrm>
          <a:prstGeom prst="ellipse">
            <a:avLst/>
          </a:prstGeom>
          <a:solidFill>
            <a:srgbClr val="1B3B5F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4206240" cy="4206240"/>
          </a:xfrm>
          <a:prstGeom prst="ellipse">
            <a:avLst/>
          </a:prstGeom>
          <a:solidFill>
            <a:srgbClr val="4F86A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8229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AI HACKATHON 2026  ·  SMART CITIES / ENVIRONMENTAL INTELLIGENCE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PRAANA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594360" y="2788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Real-time Attribution and Action for National Air quality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94360" y="342900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Urban Air Quality Intelligence for Smart City Intervention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4434840"/>
            <a:ext cx="566928" cy="566928"/>
          </a:xfrm>
          <a:prstGeom prst="ellipse">
            <a:avLst/>
          </a:prstGeom>
          <a:solidFill>
            <a:srgbClr val="4F86A0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068" y="4525548"/>
            <a:ext cx="385511" cy="38551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0" y="507492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499616" y="4718304"/>
            <a:ext cx="457200" cy="0"/>
          </a:xfrm>
          <a:prstGeom prst="line">
            <a:avLst/>
          </a:prstGeom>
          <a:noFill/>
          <a:ln w="19050">
            <a:solidFill>
              <a:srgbClr val="7FA8BC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1920240" y="4434840"/>
            <a:ext cx="566928" cy="566928"/>
          </a:xfrm>
          <a:prstGeom prst="ellipse">
            <a:avLst/>
          </a:prstGeom>
          <a:solidFill>
            <a:srgbClr val="4F86A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0948" y="4525548"/>
            <a:ext cx="385511" cy="38551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00200" y="507492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&amp; Forecast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825496" y="4718304"/>
            <a:ext cx="457200" cy="0"/>
          </a:xfrm>
          <a:prstGeom prst="line">
            <a:avLst/>
          </a:prstGeom>
          <a:noFill/>
          <a:ln w="19050">
            <a:solidFill>
              <a:srgbClr val="7FA8BC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3246120" y="4434840"/>
            <a:ext cx="566928" cy="566928"/>
          </a:xfrm>
          <a:prstGeom prst="ellipse">
            <a:avLst/>
          </a:prstGeom>
          <a:solidFill>
            <a:srgbClr val="4F86A0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6828" y="4525548"/>
            <a:ext cx="385511" cy="38551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926080" y="507492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151376" y="4718304"/>
            <a:ext cx="457200" cy="0"/>
          </a:xfrm>
          <a:prstGeom prst="line">
            <a:avLst/>
          </a:prstGeom>
          <a:noFill/>
          <a:ln w="19050">
            <a:solidFill>
              <a:srgbClr val="7FA8BC"/>
            </a:solidFill>
            <a:prstDash val="dash"/>
          </a:ln>
        </p:spPr>
      </p:sp>
      <p:sp>
        <p:nvSpPr>
          <p:cNvPr id="20" name="Shape 15"/>
          <p:cNvSpPr/>
          <p:nvPr/>
        </p:nvSpPr>
        <p:spPr>
          <a:xfrm>
            <a:off x="4572000" y="4434840"/>
            <a:ext cx="566928" cy="566928"/>
          </a:xfrm>
          <a:prstGeom prst="ellipse">
            <a:avLst/>
          </a:prstGeom>
          <a:solidFill>
            <a:srgbClr val="4F86A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2708" y="4525548"/>
            <a:ext cx="385511" cy="38551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251960" y="507492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Air Crisis Is a National Emergency — Not Just Delhi's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1892808"/>
            <a:ext cx="457200" cy="457200"/>
          </a:xfrm>
          <a:prstGeom prst="ellipse">
            <a:avLst/>
          </a:prstGeom>
          <a:solidFill>
            <a:srgbClr val="4F86A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6596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1965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1.67M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95528" y="2468880"/>
            <a:ext cx="3118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premature deaths/year from air pollution in India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95528" y="3163824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Lancet Planetary Health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315968" y="16916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17136" y="1892808"/>
            <a:ext cx="457200" cy="457200"/>
          </a:xfrm>
          <a:prstGeom prst="ellipse">
            <a:avLst/>
          </a:prstGeom>
          <a:solidFill>
            <a:srgbClr val="4F86A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288" y="1965960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93208" y="181965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218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4517136" y="2468880"/>
            <a:ext cx="3118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Delhi's average AQI in 2024–25 — 'Poor' or worse 200+ days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17136" y="3163824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8037576" y="16916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38744" y="1892808"/>
            <a:ext cx="457200" cy="457200"/>
          </a:xfrm>
          <a:prstGeom prst="ellipse">
            <a:avLst/>
          </a:prstGeom>
          <a:solidFill>
            <a:srgbClr val="4F86A0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1896" y="1965960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14816" y="181965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60+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8238744" y="2468880"/>
            <a:ext cx="3118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Mumbai recorded dangerous AQI levels in 2024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238744" y="3163824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594360" y="3675888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95528" y="3877056"/>
            <a:ext cx="457200" cy="457200"/>
          </a:xfrm>
          <a:prstGeom prst="ellipse">
            <a:avLst/>
          </a:prstGeom>
          <a:solidFill>
            <a:srgbClr val="E8862E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950208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71600" y="380390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24/50</a:t>
            </a:r>
            <a:endParaRPr lang="en-US" sz="3000" dirty="0"/>
          </a:p>
        </p:txBody>
      </p:sp>
      <p:sp>
        <p:nvSpPr>
          <p:cNvPr id="26" name="Text 20"/>
          <p:cNvSpPr/>
          <p:nvPr/>
        </p:nvSpPr>
        <p:spPr>
          <a:xfrm>
            <a:off x="795528" y="4453128"/>
            <a:ext cx="3118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India's most polluted cities are Tier-1/Tier-2 metros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95528" y="5148072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 2024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4315968" y="3675888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17136" y="3877056"/>
            <a:ext cx="457200" cy="457200"/>
          </a:xfrm>
          <a:prstGeom prst="ellipse">
            <a:avLst/>
          </a:prstGeom>
          <a:solidFill>
            <a:srgbClr val="E8862E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0288" y="3950208"/>
            <a:ext cx="310896" cy="31089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093208" y="380390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900+</a:t>
            </a:r>
            <a:endParaRPr lang="en-US" sz="3000" dirty="0"/>
          </a:p>
        </p:txBody>
      </p:sp>
      <p:sp>
        <p:nvSpPr>
          <p:cNvPr id="32" name="Text 25"/>
          <p:cNvSpPr/>
          <p:nvPr/>
        </p:nvSpPr>
        <p:spPr>
          <a:xfrm>
            <a:off x="4517136" y="4453128"/>
            <a:ext cx="3118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CAAQMS stations already deployed nationally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4517136" y="5148072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NCAP</a:t>
            </a:r>
            <a:endParaRPr lang="en-US" sz="850" dirty="0"/>
          </a:p>
        </p:txBody>
      </p:sp>
      <p:sp>
        <p:nvSpPr>
          <p:cNvPr id="34" name="Shape 27"/>
          <p:cNvSpPr/>
          <p:nvPr/>
        </p:nvSpPr>
        <p:spPr>
          <a:xfrm>
            <a:off x="8037576" y="3675888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238744" y="3877056"/>
            <a:ext cx="457200" cy="457200"/>
          </a:xfrm>
          <a:prstGeom prst="ellipse">
            <a:avLst/>
          </a:prstGeom>
          <a:solidFill>
            <a:srgbClr val="E8862E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1896" y="3950208"/>
            <a:ext cx="310896" cy="31089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814816" y="380390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31%</a:t>
            </a:r>
            <a:endParaRPr lang="en-US" sz="3000" dirty="0"/>
          </a:p>
        </p:txBody>
      </p:sp>
      <p:sp>
        <p:nvSpPr>
          <p:cNvPr id="38" name="Text 30"/>
          <p:cNvSpPr/>
          <p:nvPr/>
        </p:nvSpPr>
        <p:spPr>
          <a:xfrm>
            <a:off x="8238744" y="4453128"/>
            <a:ext cx="3118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cities with monitoring data have any actionable response protocol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8238744" y="5148072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 Audit 2024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Exists. The Intelligence Layer Does Not.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answer one question. City administrators need answers to three.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E8862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398" y="2269998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1214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" y="26974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causing this pollution right now?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97680" y="196596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2194560"/>
            <a:ext cx="502920" cy="502920"/>
          </a:xfrm>
          <a:prstGeom prst="ellipse">
            <a:avLst/>
          </a:prstGeom>
          <a:solidFill>
            <a:srgbClr val="E8862E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1718" y="2269998"/>
            <a:ext cx="352044" cy="3520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21214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bad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526280" y="26974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it get over the next 72 hours?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01000" y="196596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0" y="2194560"/>
            <a:ext cx="502920" cy="502920"/>
          </a:xfrm>
          <a:prstGeom prst="ellipse">
            <a:avLst/>
          </a:prstGeom>
          <a:solidFill>
            <a:srgbClr val="E8862E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5038" y="2269998"/>
            <a:ext cx="352044" cy="3520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69680" y="21214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8229600" y="26974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enforcement be sent today?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94360" y="3794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answers all three today.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94360" y="434340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822960" y="4498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 TODAY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22960" y="482803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 Dashboard: </a:t>
            </a: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current AQI reading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22960" y="524865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IQAir / AQI India apps: </a:t>
            </a: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City-level AQI number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822960" y="566928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studies: </a:t>
            </a: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Offline, periodic source apportionment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035040" y="434340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1B3B5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6263640" y="4498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PRAANA DOES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263640" y="482803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pollution to its source, hourly, ward by ward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6263640" y="524865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AQI 24–72hrs ahead at 1km resolution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6263640" y="566928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enforcement actions by expected AQI impact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Coordinated AI Agents, One Mission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from sensors, satellites, weather &amp; maps → attribute pollution to its source → forecast 24–72hrs ahead → rank enforcement actions → compare across cities → communicate risk to citizens.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1993392" cy="3611880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2148840"/>
            <a:ext cx="1993392" cy="822960"/>
          </a:xfrm>
          <a:prstGeom prst="roundRect">
            <a:avLst>
              <a:gd name="adj" fmla="val 10000"/>
            </a:avLst>
          </a:prstGeom>
          <a:solidFill>
            <a:srgbClr val="1B3B5F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2651760"/>
            <a:ext cx="1993392" cy="320040"/>
          </a:xfrm>
          <a:prstGeom prst="rect">
            <a:avLst/>
          </a:prstGeom>
          <a:solidFill>
            <a:srgbClr val="1B3B5F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2286000"/>
            <a:ext cx="566928" cy="566928"/>
          </a:xfrm>
          <a:prstGeom prst="ellipse">
            <a:avLst/>
          </a:prstGeom>
          <a:solidFill>
            <a:srgbClr val="E8862E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300" y="2376708"/>
            <a:ext cx="385511" cy="38551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30632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22376" y="33375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Attribution Engine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22376" y="42519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fingerprinting + causal AI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52344" y="2148840"/>
            <a:ext cx="1993392" cy="3611880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752344" y="2148840"/>
            <a:ext cx="1993392" cy="822960"/>
          </a:xfrm>
          <a:prstGeom prst="roundRect">
            <a:avLst>
              <a:gd name="adj" fmla="val 10000"/>
            </a:avLst>
          </a:prstGeom>
          <a:solidFill>
            <a:srgbClr val="1B3B5F"/>
          </a:solidFill>
          <a:ln/>
        </p:spPr>
      </p:sp>
      <p:sp>
        <p:nvSpPr>
          <p:cNvPr id="15" name="Shape 12"/>
          <p:cNvSpPr/>
          <p:nvPr/>
        </p:nvSpPr>
        <p:spPr>
          <a:xfrm>
            <a:off x="2752344" y="2651760"/>
            <a:ext cx="1993392" cy="320040"/>
          </a:xfrm>
          <a:prstGeom prst="rect">
            <a:avLst/>
          </a:prstGeom>
          <a:solidFill>
            <a:srgbClr val="1B3B5F"/>
          </a:solidFill>
          <a:ln/>
        </p:spPr>
      </p:sp>
      <p:sp>
        <p:nvSpPr>
          <p:cNvPr id="16" name="Shape 13"/>
          <p:cNvSpPr/>
          <p:nvPr/>
        </p:nvSpPr>
        <p:spPr>
          <a:xfrm>
            <a:off x="3465576" y="2286000"/>
            <a:ext cx="566928" cy="566928"/>
          </a:xfrm>
          <a:prstGeom prst="ellipse">
            <a:avLst/>
          </a:prstGeom>
          <a:solidFill>
            <a:srgbClr val="E8862E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284" y="2376708"/>
            <a:ext cx="385511" cy="38551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752344" y="30632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2880360" y="33375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Hyperlocal Forecasting Agent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2880360" y="42519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+ atmospheric dispersion, 1km/72hr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910328" y="2148840"/>
            <a:ext cx="1993392" cy="3611880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910328" y="2148840"/>
            <a:ext cx="1993392" cy="822960"/>
          </a:xfrm>
          <a:prstGeom prst="roundRect">
            <a:avLst>
              <a:gd name="adj" fmla="val 10000"/>
            </a:avLst>
          </a:prstGeom>
          <a:solidFill>
            <a:srgbClr val="1B3B5F"/>
          </a:solidFill>
          <a:ln/>
        </p:spPr>
      </p:sp>
      <p:sp>
        <p:nvSpPr>
          <p:cNvPr id="23" name="Shape 19"/>
          <p:cNvSpPr/>
          <p:nvPr/>
        </p:nvSpPr>
        <p:spPr>
          <a:xfrm>
            <a:off x="4910328" y="2651760"/>
            <a:ext cx="1993392" cy="320040"/>
          </a:xfrm>
          <a:prstGeom prst="rect">
            <a:avLst/>
          </a:prstGeom>
          <a:solidFill>
            <a:srgbClr val="1B3B5F"/>
          </a:solidFill>
          <a:ln/>
        </p:spPr>
      </p:sp>
      <p:sp>
        <p:nvSpPr>
          <p:cNvPr id="24" name="Shape 20"/>
          <p:cNvSpPr/>
          <p:nvPr/>
        </p:nvSpPr>
        <p:spPr>
          <a:xfrm>
            <a:off x="5623560" y="2286000"/>
            <a:ext cx="566928" cy="566928"/>
          </a:xfrm>
          <a:prstGeom prst="ellipse">
            <a:avLst/>
          </a:prstGeom>
          <a:solidFill>
            <a:srgbClr val="E8862E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4268" y="2376708"/>
            <a:ext cx="385511" cy="385511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910328" y="30632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5038344" y="33375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Enforcement Intelligence Agent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5038344" y="42519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actions by expected AQI impact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7068312" y="2148840"/>
            <a:ext cx="1993392" cy="3611880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068312" y="2148840"/>
            <a:ext cx="1993392" cy="822960"/>
          </a:xfrm>
          <a:prstGeom prst="roundRect">
            <a:avLst>
              <a:gd name="adj" fmla="val 10000"/>
            </a:avLst>
          </a:prstGeom>
          <a:solidFill>
            <a:srgbClr val="1B3B5F"/>
          </a:solidFill>
          <a:ln/>
        </p:spPr>
      </p:sp>
      <p:sp>
        <p:nvSpPr>
          <p:cNvPr id="31" name="Shape 26"/>
          <p:cNvSpPr/>
          <p:nvPr/>
        </p:nvSpPr>
        <p:spPr>
          <a:xfrm>
            <a:off x="7068312" y="2651760"/>
            <a:ext cx="1993392" cy="320040"/>
          </a:xfrm>
          <a:prstGeom prst="rect">
            <a:avLst/>
          </a:prstGeom>
          <a:solidFill>
            <a:srgbClr val="1B3B5F"/>
          </a:solidFill>
          <a:ln/>
        </p:spPr>
      </p:sp>
      <p:sp>
        <p:nvSpPr>
          <p:cNvPr id="32" name="Shape 27"/>
          <p:cNvSpPr/>
          <p:nvPr/>
        </p:nvSpPr>
        <p:spPr>
          <a:xfrm>
            <a:off x="7781544" y="2286000"/>
            <a:ext cx="566928" cy="566928"/>
          </a:xfrm>
          <a:prstGeom prst="ellipse">
            <a:avLst/>
          </a:prstGeom>
          <a:solidFill>
            <a:srgbClr val="E8862E"/>
          </a:solidFill>
          <a:ln/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2252" y="2376708"/>
            <a:ext cx="385511" cy="385511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068312" y="30632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7196328" y="33375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Multi-City Comparator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7196328" y="42519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Cross-city trend &amp; intervention learning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9226296" y="2148840"/>
            <a:ext cx="1993392" cy="3611880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9226296" y="2148840"/>
            <a:ext cx="1993392" cy="822960"/>
          </a:xfrm>
          <a:prstGeom prst="roundRect">
            <a:avLst>
              <a:gd name="adj" fmla="val 10000"/>
            </a:avLst>
          </a:prstGeom>
          <a:solidFill>
            <a:srgbClr val="1B3B5F"/>
          </a:solidFill>
          <a:ln/>
        </p:spPr>
      </p:sp>
      <p:sp>
        <p:nvSpPr>
          <p:cNvPr id="39" name="Shape 33"/>
          <p:cNvSpPr/>
          <p:nvPr/>
        </p:nvSpPr>
        <p:spPr>
          <a:xfrm>
            <a:off x="9226296" y="2651760"/>
            <a:ext cx="1993392" cy="320040"/>
          </a:xfrm>
          <a:prstGeom prst="rect">
            <a:avLst/>
          </a:prstGeom>
          <a:solidFill>
            <a:srgbClr val="1B3B5F"/>
          </a:solidFill>
          <a:ln/>
        </p:spPr>
      </p:sp>
      <p:sp>
        <p:nvSpPr>
          <p:cNvPr id="40" name="Shape 34"/>
          <p:cNvSpPr/>
          <p:nvPr/>
        </p:nvSpPr>
        <p:spPr>
          <a:xfrm>
            <a:off x="9939528" y="2286000"/>
            <a:ext cx="566928" cy="566928"/>
          </a:xfrm>
          <a:prstGeom prst="ellipse">
            <a:avLst/>
          </a:prstGeom>
          <a:solidFill>
            <a:srgbClr val="E8862E"/>
          </a:solidFill>
          <a:ln/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30236" y="2376708"/>
            <a:ext cx="385511" cy="385511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9226296" y="30632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1000" dirty="0"/>
          </a:p>
        </p:txBody>
      </p:sp>
      <p:sp>
        <p:nvSpPr>
          <p:cNvPr id="43" name="Text 36"/>
          <p:cNvSpPr/>
          <p:nvPr/>
        </p:nvSpPr>
        <p:spPr>
          <a:xfrm>
            <a:off x="9354312" y="33375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 Health Advisory</a:t>
            </a:r>
            <a:endParaRPr lang="en-US" sz="1300" dirty="0"/>
          </a:p>
        </p:txBody>
      </p:sp>
      <p:sp>
        <p:nvSpPr>
          <p:cNvPr id="44" name="Text 37"/>
          <p:cNvSpPr/>
          <p:nvPr/>
        </p:nvSpPr>
        <p:spPr>
          <a:xfrm>
            <a:off x="9354312" y="42519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Regional-language alerts via app &amp; IVR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Six Data Sources to Two Action Surfaces</a:t>
            </a:r>
            <a:endParaRPr lang="en-US" sz="2800" dirty="0"/>
          </a:p>
        </p:txBody>
      </p:sp>
      <p:pic>
        <p:nvPicPr>
          <p:cNvPr id="4" name="Image 0" descr="/home/claude/praana/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7367" y="1417320"/>
            <a:ext cx="8636962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Data Families, Merged Into One Hourly Feed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13816" y="2002536"/>
            <a:ext cx="512064" cy="512064"/>
          </a:xfrm>
          <a:prstGeom prst="ellipse">
            <a:avLst/>
          </a:prstGeom>
          <a:solidFill>
            <a:srgbClr val="4F86A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746" y="2084466"/>
            <a:ext cx="348204" cy="3482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659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CPCB CAAQMS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13816" y="2679192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PM2.5, PM10, NO2, SO2, CO, O3 • 40+ stations • hourly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15968" y="178308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35424" y="2002536"/>
            <a:ext cx="512064" cy="512064"/>
          </a:xfrm>
          <a:prstGeom prst="ellipse">
            <a:avLst/>
          </a:prstGeom>
          <a:solidFill>
            <a:srgbClr val="4F86A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354" y="2084466"/>
            <a:ext cx="348204" cy="3482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84648" y="19659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Open-Meteo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35424" y="2679192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Wind, temperature, humidity, rainfall • hourly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37576" y="178308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57032" y="2002536"/>
            <a:ext cx="512064" cy="512064"/>
          </a:xfrm>
          <a:prstGeom prst="ellipse">
            <a:avLst/>
          </a:prstGeom>
          <a:solidFill>
            <a:srgbClr val="4F86A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8962" y="2084466"/>
            <a:ext cx="348204" cy="3482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06256" y="19659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Sentinel-5P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57032" y="2679192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NO2 / SO2 / CO from orbit • daily, city-wide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94360" y="3858768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13816" y="4078224"/>
            <a:ext cx="512064" cy="512064"/>
          </a:xfrm>
          <a:prstGeom prst="ellipse">
            <a:avLst/>
          </a:prstGeom>
          <a:solidFill>
            <a:srgbClr val="4F86A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746" y="4160154"/>
            <a:ext cx="348204" cy="3482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04164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MODIS Fire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13816" y="4754880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Crop-burning hotspots, Punjab &amp; Haryana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15968" y="3858768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35424" y="4078224"/>
            <a:ext cx="512064" cy="512064"/>
          </a:xfrm>
          <a:prstGeom prst="ellipse">
            <a:avLst/>
          </a:prstGeom>
          <a:solidFill>
            <a:srgbClr val="4F86A0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354" y="4160154"/>
            <a:ext cx="348204" cy="34820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84648" y="404164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OpenStreetMap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35424" y="4754880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Industry, highways, construction, schools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37576" y="3858768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57032" y="4078224"/>
            <a:ext cx="512064" cy="512064"/>
          </a:xfrm>
          <a:prstGeom prst="ellipse">
            <a:avLst/>
          </a:prstGeom>
          <a:solidFill>
            <a:srgbClr val="4F86A0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8962" y="4160154"/>
            <a:ext cx="348204" cy="34820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06256" y="404164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Census + DataMeet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257032" y="4754880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 ward boundaries • population per ward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· WHO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Source Has a Chemical Fingerprint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837944"/>
            <a:ext cx="109728" cy="109728"/>
          </a:xfrm>
          <a:prstGeom prst="ellipse">
            <a:avLst/>
          </a:prstGeom>
          <a:solidFill>
            <a:srgbClr val="E8862E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" y="172821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vehicles: high NO2 + CO, moderate PM2.5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68296"/>
            <a:ext cx="109728" cy="109728"/>
          </a:xfrm>
          <a:prstGeom prst="ellipse">
            <a:avLst/>
          </a:prstGeom>
          <a:solidFill>
            <a:srgbClr val="E8862E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" y="225856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sites: very high PM10, low NO2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898648"/>
            <a:ext cx="109728" cy="109728"/>
          </a:xfrm>
          <a:prstGeom prst="ellipse">
            <a:avLst/>
          </a:prstGeom>
          <a:solidFill>
            <a:srgbClr val="E8862E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" y="27889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burning: very high PM2.5 + CO, organic markers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429000"/>
            <a:ext cx="109728" cy="109728"/>
          </a:xfrm>
          <a:prstGeom prst="ellipse">
            <a:avLst/>
          </a:prstGeom>
          <a:solidFill>
            <a:srgbClr val="E8862E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" y="331927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stacks: high SO2 + NO2, heavy-metal traces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950208"/>
            <a:ext cx="59436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95528" y="4087368"/>
            <a:ext cx="5541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 AI, not just correlation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95528" y="4434840"/>
            <a:ext cx="5541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PM10 spikes downwind of a known construction site, confirmed against live wind direction — not just correlated with nearby traffic.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0" y="1783080"/>
            <a:ext cx="4206240" cy="425196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086600" y="1920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reading: ward attribution</a:t>
            </a:r>
            <a:endParaRPr lang="en-US" sz="115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7178040" y="2286000"/>
          <a:ext cx="35661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/>
          <p:nvPr/>
        </p:nvSpPr>
        <p:spPr>
          <a:xfrm>
            <a:off x="7086600" y="5257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PM2.5=180 · PM10=220 · NO2=85 · SO2=12 · CO=45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· HOW BAD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1km-Resolution AQI Forecasts, 24–72 Hours Ahead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384048" cy="384048"/>
          </a:xfrm>
          <a:prstGeom prst="ellipse">
            <a:avLst/>
          </a:prstGeom>
          <a:solidFill>
            <a:srgbClr val="4F86A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648" y="1894088"/>
            <a:ext cx="253472" cy="253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4712" y="1773936"/>
            <a:ext cx="4956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Neural Network treats 40+ stations as a connected network — pollution moves with the wind from node to node.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94360" y="2907792"/>
            <a:ext cx="384048" cy="384048"/>
          </a:xfrm>
          <a:prstGeom prst="ellipse">
            <a:avLst/>
          </a:prstGeom>
          <a:solidFill>
            <a:srgbClr val="4F86A0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648" y="2973080"/>
            <a:ext cx="253472" cy="253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24712" y="2852928"/>
            <a:ext cx="4956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with a physics-based atmospheric dispersion model so predictions stay grounded, not just pattern-matched.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94360" y="3986784"/>
            <a:ext cx="384048" cy="384048"/>
          </a:xfrm>
          <a:prstGeom prst="ellipse">
            <a:avLst/>
          </a:prstGeom>
          <a:solidFill>
            <a:srgbClr val="4F86A0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648" y="4052072"/>
            <a:ext cx="253472" cy="253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24712" y="3931920"/>
            <a:ext cx="4956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time slider — drag forward 24 / 48 / 72 hours to see predicted AQI for every ward.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446520" y="1783080"/>
            <a:ext cx="5150815" cy="425196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6675120" y="1920240"/>
            <a:ext cx="46936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example — Ward AQI, next 72 hours</a:t>
            </a:r>
            <a:endParaRPr lang="en-US" sz="115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6720840" y="2331720"/>
          <a:ext cx="4602175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 · WHERE TO 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Ranked, Evidence-Backed Action List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possible enforcement action across the city, scored by expected AQI impact.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74066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2212848"/>
            <a:ext cx="566928" cy="566928"/>
          </a:xfrm>
          <a:prstGeom prst="ellipse">
            <a:avLst/>
          </a:prstGeom>
          <a:solidFill>
            <a:srgbClr val="1B3B5F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22128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112264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 construction site — Rohini Sector 15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554480" y="25146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18% PM10 reduction, NW Delhi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3200400"/>
            <a:ext cx="74066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95528" y="3447288"/>
            <a:ext cx="566928" cy="566928"/>
          </a:xfrm>
          <a:prstGeom prst="ellipse">
            <a:avLst/>
          </a:prstGeom>
          <a:solidFill>
            <a:srgbClr val="1B3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34472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3346704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Diesel-vehicle checkpoint — NH48 entry point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554480" y="37490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12% NO2 reduction, Dwarka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4434840"/>
            <a:ext cx="74066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" y="4681728"/>
            <a:ext cx="566928" cy="566928"/>
          </a:xfrm>
          <a:prstGeom prst="ellipse">
            <a:avLst/>
          </a:prstGeom>
          <a:solidFill>
            <a:srgbClr val="1B3B5F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" y="4681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4581144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Notice to industrial cluster — Bawana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554480" y="49834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9% SO2 reduction, NW corridor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75320" y="1965960"/>
            <a:ext cx="3322015" cy="3703320"/>
          </a:xfrm>
          <a:prstGeom prst="roundRect">
            <a:avLst>
              <a:gd name="adj" fmla="val 2477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76488" y="2103120"/>
            <a:ext cx="29196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 (%)</a:t>
            </a:r>
            <a:endParaRPr lang="en-US" sz="11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8503920" y="2423160"/>
          <a:ext cx="2864815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4 · MULTI-CITY COMPARATOR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Five Cities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ward-hour feature table, any city — onboarding needs a new CAAQMS feed, not new modelling.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199339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39596" y="2148840"/>
            <a:ext cx="502920" cy="502920"/>
          </a:xfrm>
          <a:prstGeom prst="ellipse">
            <a:avLst/>
          </a:prstGeom>
          <a:solidFill>
            <a:srgbClr val="1B3B5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063" y="2229307"/>
            <a:ext cx="341986" cy="3419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78892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Delhi NCR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320040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— primary build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752344" y="1965960"/>
            <a:ext cx="199339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97580" y="2148840"/>
            <a:ext cx="502920" cy="502920"/>
          </a:xfrm>
          <a:prstGeom prst="ellipse">
            <a:avLst/>
          </a:prstGeom>
          <a:solidFill>
            <a:srgbClr val="1B3B5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8047" y="2229307"/>
            <a:ext cx="341986" cy="34198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43784" y="278892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Mumbai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843784" y="320040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— comparison city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910328" y="1965960"/>
            <a:ext cx="199339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655564" y="2148840"/>
            <a:ext cx="502920" cy="502920"/>
          </a:xfrm>
          <a:prstGeom prst="ellipse">
            <a:avLst/>
          </a:prstGeom>
          <a:solidFill>
            <a:srgbClr val="4F86A0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6031" y="2229307"/>
            <a:ext cx="341986" cy="34198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01768" y="278892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Kolkata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001768" y="320040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onboarding wave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7068312" y="1965960"/>
            <a:ext cx="199339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813548" y="2148840"/>
            <a:ext cx="502920" cy="502920"/>
          </a:xfrm>
          <a:prstGeom prst="ellipse">
            <a:avLst/>
          </a:prstGeom>
          <a:solidFill>
            <a:srgbClr val="4F86A0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4015" y="2229307"/>
            <a:ext cx="341986" cy="34198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59752" y="278892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Bengaluru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159752" y="320040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onboarding wave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9226296" y="1965960"/>
            <a:ext cx="199339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971532" y="2148840"/>
            <a:ext cx="502920" cy="502920"/>
          </a:xfrm>
          <a:prstGeom prst="ellipse">
            <a:avLst/>
          </a:prstGeom>
          <a:solidFill>
            <a:srgbClr val="4F86A0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1999" y="2229307"/>
            <a:ext cx="341986" cy="34198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317736" y="278892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Chennai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9317736" y="320040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onboarding wave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594360" y="4023360"/>
            <a:ext cx="11002975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82296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Cross-city learning loop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822960" y="4526280"/>
            <a:ext cx="105457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city deploys a recommended action, the dashboard tracks realised AQI change vs. predicted change — building a growing evidence base of what actually works, and surfacing successful interventions as candidates for wards with a similar source-attribution profile in other cities.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5 · CITIZEN HEALTH ADVISORY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Reaching Every Citizen, In Their Own Language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384048" cy="384048"/>
          </a:xfrm>
          <a:prstGeom prst="ellipse">
            <a:avLst/>
          </a:prstGeom>
          <a:solidFill>
            <a:srgbClr val="4F86A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648" y="1939808"/>
            <a:ext cx="253472" cy="253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4712" y="1801368"/>
            <a:ext cx="5230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Ward-level AQI now + 72hr forecast, in plain language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94360" y="2788920"/>
            <a:ext cx="384048" cy="384048"/>
          </a:xfrm>
          <a:prstGeom prst="ellipse">
            <a:avLst/>
          </a:prstGeom>
          <a:solidFill>
            <a:srgbClr val="4F86A0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648" y="2854208"/>
            <a:ext cx="253472" cy="253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24712" y="2715768"/>
            <a:ext cx="5230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schools, hospitals &amp; outdoor workers against forecast risk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94360" y="3703320"/>
            <a:ext cx="384048" cy="384048"/>
          </a:xfrm>
          <a:prstGeom prst="ellipse">
            <a:avLst/>
          </a:prstGeom>
          <a:solidFill>
            <a:srgbClr val="4F86A0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648" y="3768608"/>
            <a:ext cx="253472" cy="253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24712" y="3630168"/>
            <a:ext cx="5230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natural questions: ‘Is it safe to walk my child to school tomorrow?’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94360" y="4663440"/>
            <a:ext cx="5760720" cy="1417320"/>
          </a:xfrm>
          <a:prstGeom prst="roundRect">
            <a:avLst>
              <a:gd name="adj" fmla="val 5806"/>
            </a:avLst>
          </a:prstGeom>
          <a:solidFill>
            <a:srgbClr val="1B3B5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795528" y="4846320"/>
            <a:ext cx="457200" cy="457200"/>
          </a:xfrm>
          <a:prstGeom prst="ellipse">
            <a:avLst/>
          </a:prstGeom>
          <a:solidFill>
            <a:srgbClr val="E8862E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" y="4914900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47823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advisory — Hindi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795528" y="5148072"/>
            <a:ext cx="5358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“Kal subah Rohini mein AQI 280 rahega. Bahar exercise na karein.”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720840" y="1828800"/>
            <a:ext cx="4876495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6949440" y="1993392"/>
            <a:ext cx="4419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coverage by city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949440" y="2459736"/>
            <a:ext cx="274320" cy="274320"/>
          </a:xfrm>
          <a:prstGeom prst="ellipse">
            <a:avLst/>
          </a:prstGeom>
          <a:solidFill>
            <a:srgbClr val="DCEAF2"/>
          </a:solidFill>
          <a:ln/>
        </p:spPr>
      </p:sp>
      <p:sp>
        <p:nvSpPr>
          <p:cNvPr id="21" name="Shape 15"/>
          <p:cNvSpPr/>
          <p:nvPr/>
        </p:nvSpPr>
        <p:spPr>
          <a:xfrm>
            <a:off x="6949440" y="2423160"/>
            <a:ext cx="310896" cy="310896"/>
          </a:xfrm>
          <a:prstGeom prst="ellipse">
            <a:avLst/>
          </a:prstGeom>
          <a:solidFill>
            <a:srgbClr val="4F86A0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2965" y="2466685"/>
            <a:ext cx="223845" cy="22384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60920" y="2404872"/>
            <a:ext cx="3962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NCR  </a:t>
            </a: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Hindi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949440" y="3026664"/>
            <a:ext cx="274320" cy="274320"/>
          </a:xfrm>
          <a:prstGeom prst="ellipse">
            <a:avLst/>
          </a:prstGeom>
          <a:solidFill>
            <a:srgbClr val="DCEAF2"/>
          </a:solidFill>
          <a:ln/>
        </p:spPr>
      </p:sp>
      <p:sp>
        <p:nvSpPr>
          <p:cNvPr id="25" name="Shape 18"/>
          <p:cNvSpPr/>
          <p:nvPr/>
        </p:nvSpPr>
        <p:spPr>
          <a:xfrm>
            <a:off x="6949440" y="2990088"/>
            <a:ext cx="310896" cy="310896"/>
          </a:xfrm>
          <a:prstGeom prst="ellipse">
            <a:avLst/>
          </a:prstGeom>
          <a:solidFill>
            <a:srgbClr val="4F86A0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2965" y="3033613"/>
            <a:ext cx="223845" cy="22384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360920" y="2971800"/>
            <a:ext cx="3962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 </a:t>
            </a: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Marathi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6949440" y="3593592"/>
            <a:ext cx="274320" cy="274320"/>
          </a:xfrm>
          <a:prstGeom prst="ellipse">
            <a:avLst/>
          </a:prstGeom>
          <a:solidFill>
            <a:srgbClr val="DCEAF2"/>
          </a:solidFill>
          <a:ln/>
        </p:spPr>
      </p:sp>
      <p:sp>
        <p:nvSpPr>
          <p:cNvPr id="29" name="Shape 21"/>
          <p:cNvSpPr/>
          <p:nvPr/>
        </p:nvSpPr>
        <p:spPr>
          <a:xfrm>
            <a:off x="6949440" y="3557016"/>
            <a:ext cx="310896" cy="310896"/>
          </a:xfrm>
          <a:prstGeom prst="ellipse">
            <a:avLst/>
          </a:prstGeom>
          <a:solidFill>
            <a:srgbClr val="4F86A0"/>
          </a:solidFill>
          <a:ln/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2965" y="3600541"/>
            <a:ext cx="223845" cy="223845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360920" y="3538728"/>
            <a:ext cx="3962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Kolkata  </a:t>
            </a: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Bengali</a:t>
            </a:r>
            <a:endParaRPr lang="en-US" sz="1250" dirty="0"/>
          </a:p>
        </p:txBody>
      </p:sp>
      <p:sp>
        <p:nvSpPr>
          <p:cNvPr id="32" name="Shape 23"/>
          <p:cNvSpPr/>
          <p:nvPr/>
        </p:nvSpPr>
        <p:spPr>
          <a:xfrm>
            <a:off x="6949440" y="4160520"/>
            <a:ext cx="274320" cy="274320"/>
          </a:xfrm>
          <a:prstGeom prst="ellipse">
            <a:avLst/>
          </a:prstGeom>
          <a:solidFill>
            <a:srgbClr val="DCEAF2"/>
          </a:solidFill>
          <a:ln/>
        </p:spPr>
      </p:sp>
      <p:sp>
        <p:nvSpPr>
          <p:cNvPr id="33" name="Shape 24"/>
          <p:cNvSpPr/>
          <p:nvPr/>
        </p:nvSpPr>
        <p:spPr>
          <a:xfrm>
            <a:off x="6949440" y="4123944"/>
            <a:ext cx="310896" cy="310896"/>
          </a:xfrm>
          <a:prstGeom prst="ellipse">
            <a:avLst/>
          </a:prstGeom>
          <a:solidFill>
            <a:srgbClr val="4F86A0"/>
          </a:solidFill>
          <a:ln/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2965" y="4167469"/>
            <a:ext cx="223845" cy="223845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360920" y="4105656"/>
            <a:ext cx="3962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 </a:t>
            </a: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Kannada</a:t>
            </a:r>
            <a:endParaRPr lang="en-US" sz="1250" dirty="0"/>
          </a:p>
        </p:txBody>
      </p:sp>
      <p:sp>
        <p:nvSpPr>
          <p:cNvPr id="36" name="Shape 26"/>
          <p:cNvSpPr/>
          <p:nvPr/>
        </p:nvSpPr>
        <p:spPr>
          <a:xfrm>
            <a:off x="6949440" y="4727448"/>
            <a:ext cx="274320" cy="274320"/>
          </a:xfrm>
          <a:prstGeom prst="ellipse">
            <a:avLst/>
          </a:prstGeom>
          <a:solidFill>
            <a:srgbClr val="DCEAF2"/>
          </a:solidFill>
          <a:ln/>
        </p:spPr>
      </p:sp>
      <p:sp>
        <p:nvSpPr>
          <p:cNvPr id="37" name="Shape 27"/>
          <p:cNvSpPr/>
          <p:nvPr/>
        </p:nvSpPr>
        <p:spPr>
          <a:xfrm>
            <a:off x="6949440" y="4690872"/>
            <a:ext cx="310896" cy="310896"/>
          </a:xfrm>
          <a:prstGeom prst="ellipse">
            <a:avLst/>
          </a:prstGeom>
          <a:solidFill>
            <a:srgbClr val="4F86A0"/>
          </a:solidFill>
          <a:ln/>
        </p:spPr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2965" y="4734397"/>
            <a:ext cx="223845" cy="223845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360920" y="4672584"/>
            <a:ext cx="3962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 </a:t>
            </a: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Tamil</a:t>
            </a:r>
            <a:endParaRPr lang="en-US" sz="1250" dirty="0"/>
          </a:p>
        </p:txBody>
      </p:sp>
      <p:sp>
        <p:nvSpPr>
          <p:cNvPr id="40" name="Text 29"/>
          <p:cNvSpPr/>
          <p:nvPr/>
        </p:nvSpPr>
        <p:spPr>
          <a:xfrm>
            <a:off x="6949440" y="5349240"/>
            <a:ext cx="4419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IVR for low-smartphone-penetration areas, and public-display screens near schools and hospitals.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Suggested Technology, Implemented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259689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64208" y="1965960"/>
            <a:ext cx="457200" cy="457200"/>
          </a:xfrm>
          <a:prstGeom prst="ellipse">
            <a:avLst/>
          </a:prstGeom>
          <a:solidFill>
            <a:srgbClr val="1B3B5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203911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4088" y="2560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Geospatial &amp; Remote Sensing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04088" y="304495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Sentinel-5P + MODIS + OpenStreetMap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355848" y="1783080"/>
            <a:ext cx="259689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25696" y="1965960"/>
            <a:ext cx="457200" cy="457200"/>
          </a:xfrm>
          <a:prstGeom prst="ellipse">
            <a:avLst/>
          </a:prstGeom>
          <a:solidFill>
            <a:srgbClr val="1B3B5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203911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65576" y="2560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AI Systems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465576" y="304495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5-agent architecture + orchestrator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117336" y="1783080"/>
            <a:ext cx="259689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87184" y="1965960"/>
            <a:ext cx="457200" cy="457200"/>
          </a:xfrm>
          <a:prstGeom prst="ellipse">
            <a:avLst/>
          </a:prstGeom>
          <a:solidFill>
            <a:srgbClr val="1B3B5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0336" y="203911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27064" y="2560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IoT Integration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227064" y="304495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CAAQMS ingestion, 40+ stations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8878824" y="1783080"/>
            <a:ext cx="259689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48672" y="1965960"/>
            <a:ext cx="457200" cy="457200"/>
          </a:xfrm>
          <a:prstGeom prst="ellipse">
            <a:avLst/>
          </a:prstGeom>
          <a:solidFill>
            <a:srgbClr val="1B3B5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1824" y="203911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88552" y="2560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Atmospheric Dispersion Modelling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8988552" y="304495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Gaussian-plume model blended with GNN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594360" y="3794760"/>
            <a:ext cx="259689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664208" y="3977640"/>
            <a:ext cx="457200" cy="457200"/>
          </a:xfrm>
          <a:prstGeom prst="ellipse">
            <a:avLst/>
          </a:prstGeom>
          <a:solidFill>
            <a:srgbClr val="1B3B5F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7360" y="4050792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04088" y="4572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Analytics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704088" y="505663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Neural Network + time-series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3355848" y="3794760"/>
            <a:ext cx="259689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425696" y="3977640"/>
            <a:ext cx="457200" cy="457200"/>
          </a:xfrm>
          <a:prstGeom prst="ellipse">
            <a:avLst/>
          </a:prstGeom>
          <a:solidFill>
            <a:srgbClr val="1B3B5F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8848" y="4050792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465576" y="4572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 Inference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3465576" y="505663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Confounder-aware source attribution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6117336" y="3794760"/>
            <a:ext cx="259689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187184" y="3977640"/>
            <a:ext cx="457200" cy="457200"/>
          </a:xfrm>
          <a:prstGeom prst="ellipse">
            <a:avLst/>
          </a:prstGeom>
          <a:solidFill>
            <a:srgbClr val="1B3B5F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60336" y="4050792"/>
            <a:ext cx="310896" cy="31089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227064" y="4572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LLMs, Multi-Language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6227064" y="505663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Regional-language citizen advisories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8878824" y="3794760"/>
            <a:ext cx="259689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948672" y="3977640"/>
            <a:ext cx="457200" cy="457200"/>
          </a:xfrm>
          <a:prstGeom prst="ellipse">
            <a:avLst/>
          </a:prstGeom>
          <a:solidFill>
            <a:srgbClr val="1B3B5F"/>
          </a:solidFill>
          <a:ln/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21824" y="4050792"/>
            <a:ext cx="310896" cy="31089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8988552" y="4572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Geospatial Data Layer</a:t>
            </a:r>
            <a:endParaRPr lang="en-US" sz="1150" dirty="0"/>
          </a:p>
        </p:txBody>
      </p:sp>
      <p:sp>
        <p:nvSpPr>
          <p:cNvPr id="43" name="Text 33"/>
          <p:cNvSpPr/>
          <p:nvPr/>
        </p:nvSpPr>
        <p:spPr>
          <a:xfrm>
            <a:off x="8988552" y="505663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boundaries, land use, population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Prove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1002975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" y="1810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8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7373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attribution accuracy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06440" y="1737360"/>
            <a:ext cx="5653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vs. IIT-K / CPCB source-apportionment ground truth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560320"/>
            <a:ext cx="11002975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58952" y="2679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8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6060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accuracy (RMSE)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06440" y="2606040"/>
            <a:ext cx="5653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persistence baseline, at 24 / 48 / 72hr horizons, by season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429000"/>
            <a:ext cx="11002975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58952" y="3547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8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34747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Enforcement recommendation quality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06440" y="3474720"/>
            <a:ext cx="5653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by domain experts against the evidence trail provided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4297680"/>
            <a:ext cx="11002975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8952" y="4416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8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63040" y="43434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Advisory relevance &amp; language coverage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06440" y="4343400"/>
            <a:ext cx="5653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Severity-match rate + languages live, validated by native speakers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5166360"/>
            <a:ext cx="11002975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8952" y="5285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8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63040" y="52120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Response-time reduction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6440" y="5212080"/>
            <a:ext cx="5653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Signal-to-intervention time vs. documented baseline in pilot wards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RUBRIC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Directly Against the Evaluation Weights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493776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graphicFrame>
        <p:nvGraphicFramePr>
          <p:cNvPr id="5" name="Chart 0"/>
          <p:cNvGraphicFramePr/>
          <p:nvPr/>
        </p:nvGraphicFramePr>
        <p:xfrm>
          <a:off x="868680" y="1965960"/>
          <a:ext cx="43891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989320" y="1828800"/>
            <a:ext cx="5608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 — 25%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989320" y="2139696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+ causal-AI attribution; purpose-built multi-agent design.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989320" y="2670048"/>
            <a:ext cx="5608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 — 25%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989320" y="2980944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CAG-identified 31% gap with an auditable action trail.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989320" y="3511296"/>
            <a:ext cx="5608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Excellence — 20%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989320" y="3822192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GNN + physics-based dispersion, not a black box.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989320" y="4352544"/>
            <a:ext cx="5608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 — 15%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989320" y="4663440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City-agnostic pipeline — new city needs a feed, not new code.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989320" y="5193792"/>
            <a:ext cx="5608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Experience — 15%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989320" y="5504688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officer console + citizen advisory app, not one dashboard.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Two Cities to a National Platform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1993392"/>
            <a:ext cx="502920" cy="502920"/>
          </a:xfrm>
          <a:prstGeom prst="ellipse">
            <a:avLst/>
          </a:prstGeom>
          <a:solidFill>
            <a:srgbClr val="E8862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966" y="2068830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5608" y="1920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1 — Now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5528" y="2606040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NCR (live) + Mumbai (comparison)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33088" y="2651760"/>
            <a:ext cx="146304" cy="0"/>
          </a:xfrm>
          <a:prstGeom prst="line">
            <a:avLst/>
          </a:prstGeom>
          <a:noFill/>
          <a:ln w="25400">
            <a:solidFill>
              <a:srgbClr val="4F86A0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297680" y="178308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98848" y="1993392"/>
            <a:ext cx="502920" cy="502920"/>
          </a:xfrm>
          <a:prstGeom prst="ellipse">
            <a:avLst/>
          </a:prstGeom>
          <a:solidFill>
            <a:srgbClr val="4F86A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4286" y="2068830"/>
            <a:ext cx="352044" cy="3520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38928" y="1920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2 — Next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498848" y="2606040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Kolkata, Bengaluru, Chennai onboarding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836408" y="2651760"/>
            <a:ext cx="146304" cy="0"/>
          </a:xfrm>
          <a:prstGeom prst="line">
            <a:avLst/>
          </a:prstGeom>
          <a:noFill/>
          <a:ln w="25400">
            <a:solidFill>
              <a:srgbClr val="4F86A0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8001000" y="178308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02168" y="1993392"/>
            <a:ext cx="502920" cy="502920"/>
          </a:xfrm>
          <a:prstGeom prst="ellipse">
            <a:avLst/>
          </a:prstGeom>
          <a:solidFill>
            <a:srgbClr val="4F86A0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7606" y="2068830"/>
            <a:ext cx="352044" cy="3520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42248" y="1920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3 — Scale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202168" y="2606040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city with CAAQMS coverage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94360" y="3749040"/>
            <a:ext cx="11002975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822960" y="3886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deliverables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822960" y="4297680"/>
            <a:ext cx="347472" cy="347472"/>
          </a:xfrm>
          <a:prstGeom prst="ellipse">
            <a:avLst/>
          </a:prstGeom>
          <a:solidFill>
            <a:srgbClr val="E8862E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556" y="4353276"/>
            <a:ext cx="236281" cy="23628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98448" y="42519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— </a:t>
            </a: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5-agent pipeline on Delhi NCR + Mumbai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309360" y="4297680"/>
            <a:ext cx="347472" cy="347472"/>
          </a:xfrm>
          <a:prstGeom prst="ellipse">
            <a:avLst/>
          </a:prstGeom>
          <a:solidFill>
            <a:srgbClr val="E8862E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956" y="4353276"/>
            <a:ext cx="236281" cy="23628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784848" y="42519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 — </a:t>
            </a: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diagram (this deck, slide 5)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22960" y="5120640"/>
            <a:ext cx="347472" cy="347472"/>
          </a:xfrm>
          <a:prstGeom prst="ellipse">
            <a:avLst/>
          </a:prstGeom>
          <a:solidFill>
            <a:srgbClr val="E8862E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556" y="5176236"/>
            <a:ext cx="236281" cy="236281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298448" y="50749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Deck — </a:t>
            </a: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+ accompanying solution document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6309360" y="5120640"/>
            <a:ext cx="347472" cy="347472"/>
          </a:xfrm>
          <a:prstGeom prst="ellipse">
            <a:avLst/>
          </a:prstGeom>
          <a:solidFill>
            <a:srgbClr val="E8862E"/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956" y="5176236"/>
            <a:ext cx="236281" cy="236281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784848" y="50749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— </a:t>
            </a: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console + citizen app walkthrough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28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1B3B5F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286000"/>
            <a:ext cx="4572000" cy="4572000"/>
          </a:xfrm>
          <a:prstGeom prst="ellipse">
            <a:avLst/>
          </a:prstGeom>
          <a:solidFill>
            <a:srgbClr val="4F86A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PITCH, IN ONE LINE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10332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tell city governments not just that the air is bad — but exactly who is making it bad, how bad it will get tomorrow, and precisely where to send enforcement officers today to fix it.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94360" y="4434840"/>
            <a:ext cx="3200400" cy="0"/>
          </a:xfrm>
          <a:prstGeom prst="line">
            <a:avLst/>
          </a:prstGeom>
          <a:noFill/>
          <a:ln w="19050">
            <a:solidFill>
              <a:srgbClr val="7FA8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4617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PRAANA — Predictive Real-time Attribution and Action for National Air quality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5989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</a:t>
            </a:r>
            <a:r>
              <a:rPr lang="en-US" sz="1200" dirty="0" err="1" smtClean="0">
                <a:solidFill>
                  <a:srgbClr val="7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Pheonix</a:t>
            </a:r>
            <a:r>
              <a:rPr lang="en-US" sz="1200" dirty="0" smtClean="0">
                <a:solidFill>
                  <a:srgbClr val="7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1267</Words>
  <Application>Microsoft Office PowerPoint</Application>
  <PresentationFormat>Widescreen</PresentationFormat>
  <Paragraphs>226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PRAANA - AI-Powered Urban Air Quality Intelligence</dc:title>
  <dc:subject>PptxGenJS Presentation</dc:subject>
  <dc:creator>PRAANA Team</dc:creator>
  <cp:lastModifiedBy>dcfbharatpur23@gmail.com</cp:lastModifiedBy>
  <cp:revision>2</cp:revision>
  <dcterms:created xsi:type="dcterms:W3CDTF">2026-06-30T12:51:27Z</dcterms:created>
  <dcterms:modified xsi:type="dcterms:W3CDTF">2026-07-01T04:26:39Z</dcterms:modified>
</cp:coreProperties>
</file>